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50_70A067FB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6" r:id="rId4"/>
  </p:sldMasterIdLst>
  <p:notesMasterIdLst>
    <p:notesMasterId r:id="rId47"/>
  </p:notesMasterIdLst>
  <p:handoutMasterIdLst>
    <p:handoutMasterId r:id="rId48"/>
  </p:handoutMasterIdLst>
  <p:sldIdLst>
    <p:sldId id="333" r:id="rId5"/>
    <p:sldId id="334" r:id="rId6"/>
    <p:sldId id="363" r:id="rId7"/>
    <p:sldId id="367" r:id="rId8"/>
    <p:sldId id="336" r:id="rId9"/>
    <p:sldId id="337" r:id="rId10"/>
    <p:sldId id="338" r:id="rId11"/>
    <p:sldId id="377" r:id="rId12"/>
    <p:sldId id="339" r:id="rId13"/>
    <p:sldId id="341" r:id="rId14"/>
    <p:sldId id="340" r:id="rId15"/>
    <p:sldId id="346" r:id="rId16"/>
    <p:sldId id="360" r:id="rId17"/>
    <p:sldId id="361" r:id="rId18"/>
    <p:sldId id="350" r:id="rId19"/>
    <p:sldId id="348" r:id="rId20"/>
    <p:sldId id="349" r:id="rId21"/>
    <p:sldId id="351" r:id="rId22"/>
    <p:sldId id="357" r:id="rId23"/>
    <p:sldId id="352" r:id="rId24"/>
    <p:sldId id="353" r:id="rId25"/>
    <p:sldId id="354" r:id="rId26"/>
    <p:sldId id="356" r:id="rId27"/>
    <p:sldId id="355" r:id="rId28"/>
    <p:sldId id="364" r:id="rId29"/>
    <p:sldId id="359" r:id="rId30"/>
    <p:sldId id="370" r:id="rId31"/>
    <p:sldId id="390" r:id="rId32"/>
    <p:sldId id="389" r:id="rId33"/>
    <p:sldId id="378" r:id="rId34"/>
    <p:sldId id="379" r:id="rId35"/>
    <p:sldId id="381" r:id="rId36"/>
    <p:sldId id="383" r:id="rId37"/>
    <p:sldId id="384" r:id="rId38"/>
    <p:sldId id="385" r:id="rId39"/>
    <p:sldId id="386" r:id="rId40"/>
    <p:sldId id="387" r:id="rId41"/>
    <p:sldId id="388" r:id="rId42"/>
    <p:sldId id="369" r:id="rId43"/>
    <p:sldId id="372" r:id="rId44"/>
    <p:sldId id="373" r:id="rId45"/>
    <p:sldId id="34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66B446-3B3F-2931-71A3-3B09C4D99ADB}" name="Singh, Kajal" initials="SK" userId="S::singhk106@student.douglascollege.ca::816a6c0a-6fbe-4ce3-a68e-e11472669605" providerId="AD"/>
  <p188:author id="{AC13BC53-4F04-15DE-D53A-0A53C619C252}" name="Teymouri Nik, Kimia" initials="TK" userId="S::teymourinikk@student.douglascollege.ca::69cd3e56-b0b1-4e77-94c2-ddb0e0b00faa" providerId="AD"/>
  <p188:author id="{79B5CBF1-55A9-5A0D-862E-19B607FBC39A}" name="Sangsa-nga, Sirinya" initials="SS" userId="S::sangsangas@student.douglascollege.ca::20f023f5-3c1f-4d8f-b49f-4c5cd735640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11F"/>
    <a:srgbClr val="EFF4F2"/>
    <a:srgbClr val="8BBA9E"/>
    <a:srgbClr val="C0EBB7"/>
    <a:srgbClr val="FF913D"/>
    <a:srgbClr val="DC7F39"/>
    <a:srgbClr val="FE4400"/>
    <a:srgbClr val="D7FCCF"/>
    <a:srgbClr val="E8DAD0"/>
    <a:srgbClr val="EBFA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CF956D-452E-D854-9DF7-35F2C3F378F9}" v="937" dt="2025-04-08T03:43:08.863"/>
    <p1510:client id="{1A934794-C23D-33BC-518D-02D551ADEA45}" v="726" dt="2025-04-09T21:41:41.531"/>
    <p1510:client id="{3DF9C49D-ADAB-D7A5-F89A-D8802CEDB582}" v="22" dt="2025-04-09T23:09:12.385"/>
    <p1510:client id="{403AEDBE-3D9C-3C48-7649-92506E9125C3}" v="91" dt="2025-04-10T03:00:31.065"/>
    <p1510:client id="{476815B7-7F74-186B-EF2E-1D80A8A553E8}" v="76" dt="2025-04-10T00:57:22.741"/>
    <p1510:client id="{55B438EA-423B-21F3-F0D5-FC6BDC8C3C40}" v="8" dt="2025-04-10T00:40:46.469"/>
    <p1510:client id="{55FBCF36-18E5-355A-5D4B-53E011C3A208}" v="287" dt="2025-04-08T05:55:28.003"/>
    <p1510:client id="{5664DDD0-B9DB-6BCC-59A0-AEFB5A39D3C3}" v="1224" dt="2025-04-10T03:02:30.335"/>
    <p1510:client id="{5E4B9990-49C6-DBD4-E0E8-F1568025DD0D}" v="146" dt="2025-04-09T23:41:56.742"/>
    <p1510:client id="{69F572D9-40C0-8739-8B94-480D59686832}" v="1088" dt="2025-04-08T08:01:27.404"/>
    <p1510:client id="{71C0B00E-FA31-D378-25E5-82E708A3B2ED}" v="566" dt="2025-04-09T20:33:07.327"/>
    <p1510:client id="{88A7A876-C77A-F9E5-D80A-6FA3E030114C}" v="79" dt="2025-04-09T05:48:05.373"/>
    <p1510:client id="{8A7AA0E0-21BA-B54D-B3FF-B9D518B03769}" v="73" dt="2025-04-08T06:14:30.603"/>
    <p1510:client id="{934302F1-239F-6E69-6387-58E9989A5AB7}" v="36" dt="2025-04-08T22:10:10.952"/>
    <p1510:client id="{A86C5BB2-B8F4-0C30-B243-E0B11BFF457B}" v="435" dt="2025-04-08T08:08:03.056"/>
    <p1510:client id="{B3B5B91D-B1C5-54D2-B964-55AD7CD98343}" v="181" dt="2025-04-08T04:21:40.421"/>
    <p1510:client id="{B405AAF5-B98E-F7B1-1D26-9AFAF4895818}" v="51" dt="2025-04-09T18:07:47.669"/>
    <p1510:client id="{BCC2DC4D-C2C2-1DC8-62C4-0CBE5FC81654}" v="20" dt="2025-04-10T03:00:53.384"/>
    <p1510:client id="{D821B997-506B-C30E-85B8-A9EC0F32DF22}" v="433" dt="2025-04-08T22:54:21.422"/>
    <p1510:client id="{EC76B301-9C38-052B-0397-991B4ADAB58F}" v="1168" dt="2025-04-09T22:35:34.245"/>
  </p1510:revLst>
</p1510:revInfo>
</file>

<file path=ppt/tableStyles.xml><?xml version="1.0" encoding="utf-8"?>
<a:tblStyleLst xmlns:a="http://schemas.openxmlformats.org/drawingml/2006/main" def="{C083E6E3-FA7D-4D7B-A595-EF9225AFEA82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omments/modernComment_150_70A067F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60A3FF1-93CF-4D63-9293-6B02C546B590}" authorId="{6166B446-3B3F-2931-71A3-3B09C4D99ADB}" created="2025-04-09T05:35:26.274">
    <pc:sldMkLst xmlns:pc="http://schemas.microsoft.com/office/powerpoint/2013/main/command">
      <pc:docMk/>
      <pc:sldMk cId="1889560571" sldId="336"/>
    </pc:sldMkLst>
    <p188:replyLst>
      <p188:reply id="{A17823DD-7C17-4116-90B2-848A026A6143}" authorId="{6166B446-3B3F-2931-71A3-3B09C4D99ADB}" created="2025-04-09T21:10:46.536">
        <p188:txBody>
          <a:bodyPr/>
          <a:lstStyle/>
          <a:p>
            <a:r>
              <a:rPr lang="en-US"/>
              <a:t>lets put these two in different slides too, it'll look better i assure you. right now theyre okay but too clubbed together</a:t>
            </a:r>
          </a:p>
        </p188:txBody>
      </p188:reply>
    </p188:replyLst>
    <p188:txBody>
      <a:bodyPr/>
      <a:lstStyle/>
      <a:p>
        <a:r>
          <a:rPr lang="en-US"/>
          <a:t>same with this please</a:t>
        </a:r>
      </a:p>
    </p188:txBody>
  </p188:cm>
  <p188:cm id="{3F918108-C2AC-4FFF-8A7E-68C904A97711}" authorId="{79B5CBF1-55A9-5A0D-862E-19B607FBC39A}" created="2025-04-10T02:19:53.098">
    <pc:sldMkLst xmlns:pc="http://schemas.microsoft.com/office/powerpoint/2013/main/command">
      <pc:docMk/>
      <pc:sldMk cId="1889560571" sldId="336"/>
    </pc:sldMkLst>
    <p188:txBody>
      <a:bodyPr/>
      <a:lstStyle/>
      <a:p>
        <a:r>
          <a:rPr lang="en-US"/>
          <a:t>Distribution of Popularity Classes should not be 50/50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8E7403-EB4A-4177-AFCE-6A9D7B160C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49177-C030-4043-9380-EA6E4C94A1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C7415F-6970-4DE4-93F1-94FEF07D0F1C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4C83CE-EC9B-40C4-BD7A-48797AE5B1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9A75D-9B4E-4704-98C7-2A42472F11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C6D6D-E986-427F-AD9C-4E9408DDB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74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6E6E5-5A19-4AE7-8D4E-049C5315C9A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A580F-E35D-42E1-AF82-E41CC201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80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535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21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A6097-C3D4-890B-8F45-5347FAFE8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3E8E3-77CE-0F68-7A91-1B3C0309B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9B1E0E-9EBE-D914-35C6-BB8DB46C9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0219D-4C81-A121-AAA5-0BCBAA9BD1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74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heatmap reveals that </a:t>
            </a:r>
            <a:r>
              <a:rPr lang="en-US" b="1"/>
              <a:t>Danceability</a:t>
            </a:r>
            <a:r>
              <a:rPr lang="en-US"/>
              <a:t>, </a:t>
            </a:r>
            <a:r>
              <a:rPr lang="en-US" b="1"/>
              <a:t>Energy</a:t>
            </a:r>
            <a:r>
              <a:rPr lang="en-US"/>
              <a:t>, and </a:t>
            </a:r>
            <a:r>
              <a:rPr lang="en-US" b="1"/>
              <a:t>Loudness</a:t>
            </a:r>
            <a:r>
              <a:rPr lang="en-US"/>
              <a:t> have moderate positive correlations with song </a:t>
            </a:r>
            <a:r>
              <a:rPr lang="en-US" b="1"/>
              <a:t>Popularity</a:t>
            </a:r>
            <a:r>
              <a:rPr lang="en-US"/>
              <a:t>, indicating that energetic and rhythmic songs are more likely to be well-received. In contrast, features like </a:t>
            </a:r>
            <a:r>
              <a:rPr lang="en-US" b="1" err="1"/>
              <a:t>Acousticness</a:t>
            </a:r>
            <a:r>
              <a:rPr lang="en-US"/>
              <a:t>, </a:t>
            </a:r>
            <a:r>
              <a:rPr lang="en-US" b="1" err="1"/>
              <a:t>Instrumentalness</a:t>
            </a:r>
            <a:r>
              <a:rPr lang="en-US"/>
              <a:t>, and </a:t>
            </a:r>
            <a:r>
              <a:rPr lang="en-US" b="1" err="1"/>
              <a:t>Speechiness</a:t>
            </a:r>
            <a:r>
              <a:rPr lang="en-US"/>
              <a:t> show weak or negative correlations, suggesting they contribute less to mainstream appeal.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30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/>
              <a:t>This histogram shows the distribution of track popularity in the Spotify dataset, with a clear skew toward lower popularity scores. The red dashed line marks the median popularity, indicating that over half of the songs fall below this score, emphasizing a concentration of less popular tracks in the dataset.</a:t>
            </a:r>
          </a:p>
          <a:p>
            <a:pPr algn="ctr"/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389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808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58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2BAE5-712A-0360-5EBE-1993A0D43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DE637-72A5-7815-765F-D0350AD1C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CE99A7-D699-70E0-999C-D73D973A9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36A42-6F73-A723-B204-28B68135E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42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35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70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94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ED20E-0282-C926-7847-CA1968985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5D9A7E-717F-9DDD-0014-8F9F1E39D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C6844-3137-672F-8D7A-46FC78AE9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09115-B527-357F-4139-58AC0068C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77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375E4-A554-F273-0438-4ABDF519F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ADCC9-B416-8E7A-CCB2-B826DFF27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F8E32C-6D5F-C380-978E-55EB2668D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9014D-54C0-28E7-EEDA-AF4316040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310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C8A2E-0481-511D-48E3-F9BD3CDA6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F4376-FFD5-978E-7614-047E0E3D8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D0068B-5116-0C34-8A7C-0AC2C5690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23AD7-A404-876F-C3A2-64C7EEF818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713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186F7-883F-5C3C-E58D-A5D4CB725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71CA9-82A3-26C2-9778-0EF689D25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E92AB-3C1E-D171-8F91-A704EFECD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C4CCD-14DF-7341-116A-B7296ECBC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7013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CBE79-C224-A992-0C89-D4AA04097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22D58-C522-2F94-92C4-CE2A6AC4E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79727-C059-B8CE-DEC7-9B20A11EA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CF147-CE01-318F-C2CD-B4A76B682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638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618B-DE4D-811E-8C4B-5D89BE4EF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1BBD16-A6BF-64D1-7DFE-0F9BFC683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F9B47-A1EC-A949-87FC-390FC5956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28E0C-7B28-AC01-0EAD-B7C57DDF52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62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64905-A804-AADC-23F1-EA6CF3262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EE83B-061A-C4A9-1B59-BC2B7E002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85C86-94A7-0F99-CD20-2A0A89361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BCBFB-0A2A-F728-B912-8F87AC829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780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D89F9-94FE-9A04-3A09-B0667A7C3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5A278-B5FE-3CD7-77BE-32A78B163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5C081-F8F1-3CF8-9B58-0DA4B7CE3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E16F8-47CB-E9FD-4CAC-FA4FC20E7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9968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2CA8E-31EB-EED5-B7B5-73A636430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67954-3030-CB36-3E35-C75F86D5D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E9DB09-D89E-B0E4-EE0D-BAD3541E9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933F7-6F64-3B7C-3F0E-83166059F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634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A9454-F057-E216-0E39-DA13C3B96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1C6C4A-46D9-853D-2615-D865AE051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0D28B-0886-39AB-C3C8-1B32C5651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F5FBF-98FD-D9B6-232C-3F05127C3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798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232E2-F67E-B836-C454-2F70E0413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975DB9-E13B-706F-A495-738A8A989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252CC8-E30C-5A47-B513-EFD71E1B9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489AC-3E8A-7A7E-41EE-A35393C5C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898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742A1-2B60-AE26-366A-919624C63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22A99-F9E1-803D-D64B-5AA7CFA04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11734B-AC29-145C-D6C3-67837D60D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1D14B-6661-542C-202C-2AC1161D1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143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3385B-912D-DD1E-8489-DA7B899F1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C64C53-15DA-D07D-3673-DF73BA38F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2A21E2-ABE9-8833-2509-A3183682F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0D111-3714-E572-3E23-29A95E20A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121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6357D-C532-FB95-5F04-D0EAF4FE1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3BECC-805B-DD35-E75A-A31726CF4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F95AF-3628-B8EB-5551-B8E42327C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E3C53-2A48-55FA-837F-9DD0825FF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744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93B4F-8BE2-74A2-7AA8-A58F98198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0F671-0339-9B6C-6914-E6367D730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169C4D-E8CB-8289-44E6-7621A20BA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DC4B0-3397-F51A-BAB2-961A2B144A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971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0AA70-C2A2-808D-15A0-F464AC150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BF797-5A36-AB66-6BC1-3E27962A4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D992E-B9BA-C59E-5843-1D73A8CFA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D634A-4D4C-00A2-D6C7-CB291B7755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897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DDC95-8283-A922-747C-DF89CF7FF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16D356-CB62-7E52-5BEC-A1EB9112F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104732-DB51-0C61-E6CD-1215F8497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9224D-F743-1119-17ED-78CEDB353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207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C3350-B6D8-5878-E73A-5C73F02A0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68B03-1199-1E2E-AFDB-69C0BC50C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19B8D-3F57-135C-0976-DF9A9EACE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CB93D-1FCA-647F-8D82-A6CFF98C22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537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63D71-BFA1-E641-5CF2-1BBA183AB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96416-9848-D6C4-83B4-A89706FF9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60DCB-B1D0-5866-95A4-DAE7568EA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40059-0048-0873-83FF-AE6108067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752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5988D-02D7-EDF3-9AA9-FDD98949E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3B9F38-9E6F-B12B-F1A3-918494019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B3F97-1C0A-9372-616D-CCF06527A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006A8-A1D6-979E-D433-B47358699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2082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5D66D-6EFE-5B32-7834-8C2F53F31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54C76-1CCC-EEFE-823B-1AD7C69B9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F7032-F70E-3CA5-CE0A-4F6C97D0C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A95C5-D498-C4A3-D917-7975CB020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3009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ECFF1-97C5-7498-93D0-E01407B76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A54993-F809-1C15-CFEE-D457CB388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A4C40A-21B9-C878-A4FE-75397F4C8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27EA9-D2CE-E452-DEC7-20322AA8B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9536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D48C-C032-82C0-746C-73E641D31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F1FF5-66C7-973D-A073-E834ACDD6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F53E2-34E0-20E9-E270-B1ABB7B45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CACDD-6CA1-15B2-02C5-B11A2B12E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77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E9D71-3D7F-517D-347B-156BA2CD2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FD3BAE-9718-1CF1-5018-2FF5B6E1D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767C76-54AA-D485-0135-B79BE2DA7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5F4D4-A880-6119-5FF2-522873856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6055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C857C-4D42-2A68-98E8-FB3BA4C41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7B8E0-A18B-1FC4-0549-94A784DC1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28C278-D8CB-237F-5DD1-840832C43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869F5-3D0D-D042-A7DB-BF0061DAF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230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1AE37-176A-D6D6-4887-A56A703D8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5A5BFB-034B-B94E-277B-0493A0C00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DBDAF-1E4E-50BA-F7B8-16F60892C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49A13-17E6-2929-9455-734ACADDB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6067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536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018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01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991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75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78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65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70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6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642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04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7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AE8321-5884-9E75-1272-926961F31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908591"/>
            <a:ext cx="4058728" cy="5225507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2DF521-FA73-0B43-D1F3-A28543BA84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699125" y="0"/>
            <a:ext cx="5786438" cy="61341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insert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0E6515-DDBF-35F4-5C9E-FF113FD16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274074"/>
            <a:ext cx="672354" cy="58392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B32A424-7EFB-F80C-2BDA-94D103A55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8EFEEF-ABDC-22C9-C5DB-0494BEB86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99342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836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352414-3211-CEB2-31A1-11097989D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934" y="723900"/>
            <a:ext cx="3503757" cy="531641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BA26D20-54E1-2490-0D75-F08BCB7D3BF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82232" y="2053087"/>
            <a:ext cx="5903332" cy="3987230"/>
          </a:xfrm>
        </p:spPr>
        <p:txBody>
          <a:bodyPr anchor="t"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0E6515-DDBF-35F4-5C9E-FF113FD16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274074"/>
            <a:ext cx="672354" cy="58392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8A376F-AF56-AABE-DFA3-DE5A8C899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95467" y="723900"/>
            <a:ext cx="5790599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E9D420-BBEC-E7C6-7E76-FB9791C71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99342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800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AFB647-646C-4130-9EF5-C19C686B1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15000" y="738013"/>
            <a:ext cx="5676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2D6AD5-5357-463C-B785-6A488FFC8D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37007" y="817581"/>
            <a:ext cx="5935869" cy="5238159"/>
          </a:xfrm>
        </p:spPr>
        <p:txBody>
          <a:bodyPr anchor="ctr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EAD023B5-9ABC-4D4A-A1AD-D4D83D6621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1"/>
            <a:ext cx="4876799" cy="685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C0A0972-FD9A-4E9D-A0A3-BD0AF8C7B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15000" y="6134100"/>
            <a:ext cx="5676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930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0">
            <a:extLst>
              <a:ext uri="{FF2B5EF4-FFF2-40B4-BE49-F238E27FC236}">
                <a16:creationId xmlns:a16="http://schemas.microsoft.com/office/drawing/2014/main" id="{6DC3399C-8B0E-4D7D-A955-FB1F37CF3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0520" y="776873"/>
            <a:ext cx="5854182" cy="307050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1" name="Subtitle 11">
            <a:extLst>
              <a:ext uri="{FF2B5EF4-FFF2-40B4-BE49-F238E27FC236}">
                <a16:creationId xmlns:a16="http://schemas.microsoft.com/office/drawing/2014/main" id="{13C3C1EB-2C5B-4710-893A-9DD6284D5C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202" y="4088927"/>
            <a:ext cx="5842218" cy="18805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to add subtitle</a:t>
            </a:r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E335E712-C7FD-4BAC-B89C-58AF6594A4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0"/>
            <a:ext cx="4876800" cy="685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41CC69-A0B0-C1BE-2165-D8AD1B7D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57867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54A957-6A3F-2C34-A453-905FBAE77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772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4246B94A-8C64-4FBA-B409-1F9487E19C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592" y="976997"/>
            <a:ext cx="11000208" cy="1239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736CFB-FEC9-D3FB-01C8-D0AF64ED3AE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34592" y="2244725"/>
            <a:ext cx="7814185" cy="4233713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7EDA23-301F-47EE-3683-0B3206D8F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AC3921-F10C-2A33-F8DF-3B42EE1E3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101022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276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AE8321-5884-9E75-1272-926961F31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39" y="684311"/>
            <a:ext cx="4058728" cy="2749009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EB8AC8C-DEDA-D180-1CD8-B67B47276E3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57600" y="3662835"/>
            <a:ext cx="4064567" cy="246839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2DF521-FA73-0B43-D1F3-A28543BA84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07756" y="4"/>
            <a:ext cx="5786438" cy="61341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insert picture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527B4D-405A-DCD2-6970-1162843E0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4484" y="721031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0E6515-DDBF-35F4-5C9E-FF113FD16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274074"/>
            <a:ext cx="672354" cy="58392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3B79298-0F84-5214-4916-E9C0B4B46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99342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423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4246B94A-8C64-4FBA-B409-1F9487E19C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591" y="976997"/>
            <a:ext cx="11000209" cy="118822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736CFB-FEC9-D3FB-01C8-D0AF64ED3AE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34593" y="2244725"/>
            <a:ext cx="5045105" cy="423371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1800"/>
            </a:lvl1pPr>
            <a:lvl2pPr>
              <a:spcBef>
                <a:spcPts val="0"/>
              </a:spcBef>
              <a:spcAft>
                <a:spcPts val="1200"/>
              </a:spcAft>
              <a:defRPr sz="16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spcBef>
                <a:spcPts val="0"/>
              </a:spcBef>
              <a:spcAft>
                <a:spcPts val="1200"/>
              </a:spcAft>
              <a:defRPr sz="1200"/>
            </a:lvl4pPr>
            <a:lvl5pPr>
              <a:spcBef>
                <a:spcPts val="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AC3921-F10C-2A33-F8DF-3B42EE1E3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101022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4F2998B-5567-1A45-7720-4998CC19EF0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12304" y="2244724"/>
            <a:ext cx="5322496" cy="423371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1800"/>
            </a:lvl1pPr>
            <a:lvl2pPr>
              <a:spcBef>
                <a:spcPts val="0"/>
              </a:spcBef>
              <a:spcAft>
                <a:spcPts val="1200"/>
              </a:spcAft>
              <a:defRPr sz="16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spcBef>
                <a:spcPts val="0"/>
              </a:spcBef>
              <a:spcAft>
                <a:spcPts val="1200"/>
              </a:spcAft>
              <a:defRPr sz="1200"/>
            </a:lvl4pPr>
            <a:lvl5pPr>
              <a:spcBef>
                <a:spcPts val="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7EDA23-301F-47EE-3683-0B3206D8F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11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4246B94A-8C64-4FBA-B409-1F9487E19C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965" y="976999"/>
            <a:ext cx="11034713" cy="119685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736CFB-FEC9-D3FB-01C8-D0AF64ED3AE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41826" y="2244725"/>
            <a:ext cx="2958075" cy="390426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4F2998B-5567-1A45-7720-4998CC19EF0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407226" y="2244725"/>
            <a:ext cx="7353452" cy="3912896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7EDA23-301F-47EE-3683-0B3206D8F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AC3921-F10C-2A33-F8DF-3B42EE1E3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101022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561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0">
            <a:extLst>
              <a:ext uri="{FF2B5EF4-FFF2-40B4-BE49-F238E27FC236}">
                <a16:creationId xmlns:a16="http://schemas.microsoft.com/office/drawing/2014/main" id="{6DC3399C-8B0E-4D7D-A955-FB1F37CF3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46" y="983901"/>
            <a:ext cx="5724786" cy="1198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C6D5E5-DE84-EC37-75DB-50DB75B5CD4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10520" y="2244725"/>
            <a:ext cx="5724786" cy="3795683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1200"/>
              </a:spcAft>
              <a:defRPr/>
            </a:lvl2pPr>
            <a:lvl3pPr>
              <a:spcBef>
                <a:spcPts val="0"/>
              </a:spcBef>
              <a:spcAft>
                <a:spcPts val="1200"/>
              </a:spcAft>
              <a:defRPr/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E335E712-C7FD-4BAC-B89C-58AF6594A4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723899"/>
            <a:ext cx="4876800" cy="53165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41CC69-A0B0-C1BE-2165-D8AD1B7D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57867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47C2FA-8BD9-36BF-787A-3B3C4847B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69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0">
            <a:extLst>
              <a:ext uri="{FF2B5EF4-FFF2-40B4-BE49-F238E27FC236}">
                <a16:creationId xmlns:a16="http://schemas.microsoft.com/office/drawing/2014/main" id="{6DC3399C-8B0E-4D7D-A955-FB1F37CF3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4591" y="992528"/>
            <a:ext cx="10722817" cy="118822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C6D5E5-DE84-EC37-75DB-50DB75B5CD4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43216" y="2244725"/>
            <a:ext cx="3277639" cy="3903663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1200"/>
              </a:spcAft>
              <a:defRPr/>
            </a:lvl2pPr>
            <a:lvl3pPr>
              <a:spcBef>
                <a:spcPts val="0"/>
              </a:spcBef>
              <a:spcAft>
                <a:spcPts val="1200"/>
              </a:spcAft>
              <a:defRPr/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C6DB8F81-B3A9-1D53-A844-F980B4ED20C9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4406900" y="2244725"/>
            <a:ext cx="7061200" cy="39036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47C2FA-8BD9-36BF-787A-3B3C4847B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3A6849-B613-7080-903C-A7A211B7C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076149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801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4246B94A-8C64-4FBA-B409-1F9487E19C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87" y="985626"/>
            <a:ext cx="10703197" cy="117097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4F2998B-5567-1A45-7720-4998CC19EF0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0087" y="2244725"/>
            <a:ext cx="7060200" cy="3912896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736CFB-FEC9-D3FB-01C8-D0AF64ED3AE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445209" y="2244725"/>
            <a:ext cx="2958075" cy="390426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7EDA23-301F-47EE-3683-0B3206D8F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205FD8-58A9-6B91-010A-1870572FD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076149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399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0">
            <a:extLst>
              <a:ext uri="{FF2B5EF4-FFF2-40B4-BE49-F238E27FC236}">
                <a16:creationId xmlns:a16="http://schemas.microsoft.com/office/drawing/2014/main" id="{6DC3399C-8B0E-4D7D-A955-FB1F37CF3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3860" y="983902"/>
            <a:ext cx="10787370" cy="105192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C6DB8F81-B3A9-1D53-A844-F980B4ED20C9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706608" y="2244725"/>
            <a:ext cx="10761492" cy="39036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47C2FA-8BD9-36BF-787A-3B3C4847B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3A6849-B613-7080-903C-A7A211B7C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076149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45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AE8321-5884-9E75-1272-926961F31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39" y="684311"/>
            <a:ext cx="4058728" cy="2749009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527B4D-405A-DCD2-6970-1162843E0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4484" y="721031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621246-77E4-43F0-CD40-C7DB9555D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13726" y="6134059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EB8AC8C-DEDA-D180-1CD8-B67B47276E3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57600" y="3662835"/>
            <a:ext cx="4064567" cy="246839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 marL="457200" indent="0">
              <a:spcBef>
                <a:spcPts val="0"/>
              </a:spcBef>
              <a:buNone/>
              <a:defRPr/>
            </a:lvl2pPr>
            <a:lvl3pPr marL="914400" indent="0">
              <a:spcBef>
                <a:spcPts val="0"/>
              </a:spcBef>
              <a:buNone/>
              <a:defRPr/>
            </a:lvl3pPr>
            <a:lvl4pPr marL="1371600" indent="0">
              <a:spcBef>
                <a:spcPts val="0"/>
              </a:spcBef>
              <a:buNone/>
              <a:defRPr/>
            </a:lvl4pPr>
            <a:lvl5pPr marL="1828800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5230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4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aharshipandya/-spotify-tracks-dataset/dat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0_70A067FB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legedouglas-my.sharepoint.com/my?id=%2Fpersonal%2Fsinghk106%5Fstudent%5Fdouglascollege%5Fca%2FDocuments%2FCSIS%203360%2D003%5FSpotify%5FProject&amp;ga=1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hyperlink" Target="https://www.kaggle.com/datasets/iamsouravbanerjee/top-spotify-tracks-202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8BEF5F-00BC-5BA7-C0E2-94A5C1FC0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34" y="97599"/>
            <a:ext cx="10789729" cy="566963"/>
          </a:xfrm>
        </p:spPr>
        <p:txBody>
          <a:bodyPr>
            <a:noAutofit/>
          </a:bodyPr>
          <a:lstStyle/>
          <a:p>
            <a:pPr algn="ctr"/>
            <a:r>
              <a:rPr lang="en-US" sz="4000">
                <a:latin typeface="Univers Condensed"/>
                <a:ea typeface="+mj-lt"/>
                <a:cs typeface="+mj-lt"/>
              </a:rPr>
              <a:t>Overview of Project </a:t>
            </a:r>
            <a:endParaRPr lang="en-US">
              <a:latin typeface="Univers Condensed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243AA-A570-5533-577C-6CF74FAD07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13391" y="1040834"/>
            <a:ext cx="9566303" cy="1596847"/>
          </a:xfrm>
        </p:spPr>
        <p:txBody>
          <a:bodyPr>
            <a:normAutofit/>
          </a:bodyPr>
          <a:lstStyle/>
          <a:p>
            <a:pPr algn="ctr"/>
            <a:r>
              <a:rPr lang="en-US" sz="2400">
                <a:ea typeface="+mn-lt"/>
                <a:cs typeface="+mn-lt"/>
              </a:rPr>
              <a:t>This project focuses on the analysis of a Spotify dataset containing various audio features for songs, with the aim of predicting the </a:t>
            </a:r>
            <a:r>
              <a:rPr lang="en-US" sz="2400" b="1">
                <a:ea typeface="+mn-lt"/>
                <a:cs typeface="+mn-lt"/>
              </a:rPr>
              <a:t>popularity</a:t>
            </a:r>
            <a:r>
              <a:rPr lang="en-US" sz="2400">
                <a:ea typeface="+mn-lt"/>
                <a:cs typeface="+mn-lt"/>
              </a:rPr>
              <a:t> of tracks in the future.</a:t>
            </a:r>
            <a:endParaRPr lang="en-US" sz="2400">
              <a:ea typeface="+mn-lt"/>
              <a:cs typeface="Arial"/>
            </a:endParaRPr>
          </a:p>
          <a:p>
            <a:pPr algn="ctr"/>
            <a:endParaRPr lang="en-US" sz="2400">
              <a:latin typeface="Calisto MT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128192-0728-892D-258C-A8F14C65D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67833B4-7AE8-507B-9FE8-833750E3F18B}"/>
              </a:ext>
            </a:extLst>
          </p:cNvPr>
          <p:cNvSpPr/>
          <p:nvPr/>
        </p:nvSpPr>
        <p:spPr>
          <a:xfrm>
            <a:off x="479127" y="2634788"/>
            <a:ext cx="5980540" cy="336786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lvl="1" algn="ctr">
              <a:lnSpc>
                <a:spcPct val="150000"/>
              </a:lnSpc>
            </a:pPr>
            <a:r>
              <a:rPr lang="en-US" sz="2500">
                <a:solidFill>
                  <a:srgbClr val="00B050"/>
                </a:solidFill>
                <a:latin typeface="Calisto MT"/>
                <a:ea typeface="+mn-lt"/>
                <a:cs typeface="Arial"/>
              </a:rPr>
              <a:t>Models</a:t>
            </a:r>
            <a:r>
              <a:rPr lang="en-US" sz="2500">
                <a:latin typeface="Calisto MT"/>
                <a:ea typeface="+mn-lt"/>
                <a:cs typeface="Arial"/>
              </a:rPr>
              <a:t> we used in this project: </a:t>
            </a:r>
            <a:endParaRPr lang="en-US">
              <a:latin typeface="Calisto MT"/>
              <a:ea typeface="+mn-lt"/>
              <a:cs typeface="+mn-lt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 err="1">
                <a:latin typeface="Calisto MT"/>
                <a:ea typeface="+mn-lt"/>
                <a:cs typeface="Arial"/>
              </a:rPr>
              <a:t>XGBoost</a:t>
            </a:r>
            <a:endParaRPr lang="en-US" sz="2400"/>
          </a:p>
          <a:p>
            <a:pPr marL="742950" lvl="1" indent="-285750">
              <a:buFont typeface="Courier New"/>
              <a:buChar char="o"/>
            </a:pPr>
            <a:r>
              <a:rPr lang="en-US" sz="2400">
                <a:latin typeface="Calisto MT"/>
                <a:ea typeface="+mn-lt"/>
                <a:cs typeface="Arial"/>
              </a:rPr>
              <a:t>Voting Classifier (Ensemble Method) </a:t>
            </a:r>
            <a:endParaRPr lang="en-US" sz="2400">
              <a:latin typeface="Calisto M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400">
                <a:latin typeface="Calisto MT"/>
                <a:ea typeface="+mn-lt"/>
                <a:cs typeface="Arial"/>
              </a:rPr>
              <a:t>Random Forest Classifier</a:t>
            </a:r>
            <a:endParaRPr lang="en-US" sz="2400">
              <a:latin typeface="Calisto MT"/>
            </a:endParaRPr>
          </a:p>
          <a:p>
            <a:pPr marL="742950" lvl="1" indent="-285750" algn="ctr">
              <a:buFont typeface="Courier New"/>
              <a:buChar char="o"/>
            </a:pPr>
            <a:endParaRPr lang="en-US" sz="2500">
              <a:latin typeface="Calisto MT"/>
              <a:cs typeface="Arial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CDDB81-C94F-3660-589D-D752796CA138}"/>
              </a:ext>
            </a:extLst>
          </p:cNvPr>
          <p:cNvSpPr/>
          <p:nvPr/>
        </p:nvSpPr>
        <p:spPr>
          <a:xfrm>
            <a:off x="6687164" y="2638226"/>
            <a:ext cx="4813097" cy="33619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2400">
                <a:solidFill>
                  <a:srgbClr val="00B050"/>
                </a:solidFill>
                <a:latin typeface="Calisto MT"/>
                <a:cs typeface="Arial"/>
              </a:rPr>
              <a:t>Reasons: </a:t>
            </a:r>
            <a:endParaRPr lang="en-US" sz="2400">
              <a:solidFill>
                <a:srgbClr val="00B050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sto MT"/>
                <a:cs typeface="Arial"/>
              </a:rPr>
              <a:t>Ensemble methods for nonlinear relationships. 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sto MT"/>
                <a:cs typeface="Arial"/>
              </a:rPr>
              <a:t>RFC works great for classification tasks.</a:t>
            </a:r>
          </a:p>
          <a:p>
            <a:pPr marL="285750" indent="-285750">
              <a:buFont typeface="Arial"/>
              <a:buChar char="•"/>
            </a:pPr>
            <a:r>
              <a:rPr lang="en-US" sz="2400" err="1">
                <a:latin typeface="Calisto MT"/>
                <a:cs typeface="Arial"/>
              </a:rPr>
              <a:t>XGBoost</a:t>
            </a:r>
            <a:r>
              <a:rPr lang="en-US" sz="2400">
                <a:latin typeface="Calisto MT"/>
                <a:cs typeface="Arial"/>
              </a:rPr>
              <a:t> is highly optimized and works well even with large datasets.</a:t>
            </a:r>
          </a:p>
          <a:p>
            <a:pPr marL="285750" indent="-285750" algn="ctr">
              <a:buFont typeface="Arial"/>
              <a:buChar char="•"/>
            </a:pPr>
            <a:endParaRPr lang="en-US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58DE02-AD3F-3669-F84E-DCB60187A762}"/>
              </a:ext>
            </a:extLst>
          </p:cNvPr>
          <p:cNvSpPr txBox="1"/>
          <p:nvPr/>
        </p:nvSpPr>
        <p:spPr>
          <a:xfrm>
            <a:off x="131523" y="6237962"/>
            <a:ext cx="800413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206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https://www.kaggle.com/datasets/maharshipandya/-spotify-tracks-dataset/data</a:t>
            </a:r>
          </a:p>
          <a:p>
            <a:endParaRPr lang="en-U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817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0417AF4-08C0-FC51-8823-C041945D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188" y="777186"/>
            <a:ext cx="6053328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000">
                <a:latin typeface="Univers Condensed"/>
                <a:cs typeface="Arial"/>
              </a:rPr>
              <a:t>About </a:t>
            </a:r>
            <a:r>
              <a:rPr lang="en-US" sz="3600"/>
              <a:t>Dataset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9C546F3-C564-607E-2512-A3A2F59BF6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43" b="-1"/>
          <a:stretch/>
        </p:blipFill>
        <p:spPr>
          <a:xfrm>
            <a:off x="790575" y="902448"/>
            <a:ext cx="4104154" cy="50531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D51145-FFDE-312D-7ED5-F415667BF505}"/>
              </a:ext>
            </a:extLst>
          </p:cNvPr>
          <p:cNvSpPr txBox="1"/>
          <p:nvPr/>
        </p:nvSpPr>
        <p:spPr>
          <a:xfrm>
            <a:off x="5384131" y="1718142"/>
            <a:ext cx="6412693" cy="423740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400">
                <a:latin typeface="Calisto MT"/>
                <a:cs typeface="Arial"/>
              </a:rPr>
              <a:t>The dataset consists of 81,344 tracks from Spotify, spanning 16 original features such as audio attributes, track metadata, and popularity. The target column is popularity, with values between 0 and 100, representing the song’s popularity based on plays and user engagement.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omputer code with numbers and symbols&#10;&#10;AI-generated content may be incorrect.">
            <a:extLst>
              <a:ext uri="{FF2B5EF4-FFF2-40B4-BE49-F238E27FC236}">
                <a16:creationId xmlns:a16="http://schemas.microsoft.com/office/drawing/2014/main" id="{C64EFA56-F572-7A58-AE8B-29C871206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827" y="4740058"/>
            <a:ext cx="4014591" cy="12192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50560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379F1-9145-0D0D-C4D0-1E4DE9760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B7DDAAC-BD53-E1C7-E724-F6B50CF11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4296094"/>
            <a:ext cx="10782299" cy="11006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altLang="ko-KR" sz="5400" b="1"/>
              <a:t>Exploratory data analysis</a:t>
            </a:r>
          </a:p>
        </p:txBody>
      </p:sp>
      <p:pic>
        <p:nvPicPr>
          <p:cNvPr id="5" name="Picture 4" descr="20,800+ Data Exploration Stock Illustrations, Royalty-Free Vector Graphics  &amp; Clip Art - iStock">
            <a:extLst>
              <a:ext uri="{FF2B5EF4-FFF2-40B4-BE49-F238E27FC236}">
                <a16:creationId xmlns:a16="http://schemas.microsoft.com/office/drawing/2014/main" id="{642E5791-58C5-1468-523D-5F0CF57BEA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397" r="-3" b="30286"/>
          <a:stretch/>
        </p:blipFill>
        <p:spPr>
          <a:xfrm>
            <a:off x="800100" y="727189"/>
            <a:ext cx="5177366" cy="3070938"/>
          </a:xfrm>
          <a:prstGeom prst="rect">
            <a:avLst/>
          </a:prstGeom>
        </p:spPr>
      </p:pic>
      <p:pic>
        <p:nvPicPr>
          <p:cNvPr id="3" name="Picture 2" descr="Spotify Tightens API Access Policy for Third Party Developers">
            <a:extLst>
              <a:ext uri="{FF2B5EF4-FFF2-40B4-BE49-F238E27FC236}">
                <a16:creationId xmlns:a16="http://schemas.microsoft.com/office/drawing/2014/main" id="{3E809A9B-E667-78D7-60AE-E6A5F03A8E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921" b="-1"/>
          <a:stretch/>
        </p:blipFill>
        <p:spPr>
          <a:xfrm>
            <a:off x="6147858" y="727189"/>
            <a:ext cx="5244042" cy="3070938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FBDBD30-F250-4D5E-925B-4796AFC99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144434"/>
            <a:ext cx="10629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387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1172935"/>
            <a:ext cx="2653318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3105667"/>
            <a:ext cx="26533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 descr="A chart with red and blue squares&#10;&#10;AI-generated content may be incorrect.">
            <a:extLst>
              <a:ext uri="{FF2B5EF4-FFF2-40B4-BE49-F238E27FC236}">
                <a16:creationId xmlns:a16="http://schemas.microsoft.com/office/drawing/2014/main" id="{734631FB-B4CA-BCD8-5570-0D05E2667B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4127" y="351544"/>
            <a:ext cx="7482946" cy="649080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59027-D4AB-421C-3402-D20CE43F9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3DB2ADC-AF19-4574-8C10-79B5B04FCA27}" type="slidenum">
              <a:rPr lang="en-US">
                <a:solidFill>
                  <a:srgbClr val="000000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0024F0-0EA8-827C-5E79-21370B898157}"/>
              </a:ext>
            </a:extLst>
          </p:cNvPr>
          <p:cNvSpPr/>
          <p:nvPr/>
        </p:nvSpPr>
        <p:spPr>
          <a:xfrm>
            <a:off x="8172473" y="1376151"/>
            <a:ext cx="3786373" cy="41176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500">
                <a:latin typeface="Calisto MT"/>
                <a:ea typeface="+mn-lt"/>
                <a:cs typeface="+mn-lt"/>
              </a:rPr>
              <a:t>This heatmap reveals that </a:t>
            </a:r>
            <a:r>
              <a:rPr lang="en-US" sz="2500" b="1">
                <a:latin typeface="Calisto MT"/>
                <a:ea typeface="+mn-lt"/>
                <a:cs typeface="+mn-lt"/>
              </a:rPr>
              <a:t>Danceability</a:t>
            </a:r>
            <a:r>
              <a:rPr lang="en-US" sz="2500">
                <a:latin typeface="Calisto MT"/>
                <a:ea typeface="+mn-lt"/>
                <a:cs typeface="+mn-lt"/>
              </a:rPr>
              <a:t>, </a:t>
            </a:r>
            <a:r>
              <a:rPr lang="en-US" sz="2500" b="1">
                <a:latin typeface="Calisto MT"/>
                <a:ea typeface="+mn-lt"/>
                <a:cs typeface="+mn-lt"/>
              </a:rPr>
              <a:t>Energy</a:t>
            </a:r>
            <a:r>
              <a:rPr lang="en-US" sz="2500">
                <a:latin typeface="Calisto MT"/>
                <a:ea typeface="+mn-lt"/>
                <a:cs typeface="+mn-lt"/>
              </a:rPr>
              <a:t>, and </a:t>
            </a:r>
            <a:r>
              <a:rPr lang="en-US" sz="2500" b="1">
                <a:latin typeface="Calisto MT"/>
                <a:ea typeface="+mn-lt"/>
                <a:cs typeface="+mn-lt"/>
              </a:rPr>
              <a:t>Loudness</a:t>
            </a:r>
            <a:r>
              <a:rPr lang="en-US" sz="2500">
                <a:latin typeface="Calisto MT"/>
                <a:ea typeface="+mn-lt"/>
                <a:cs typeface="+mn-lt"/>
              </a:rPr>
              <a:t> have moderate positive correlations with song </a:t>
            </a:r>
            <a:r>
              <a:rPr lang="en-US" sz="2500" b="1">
                <a:latin typeface="Calisto MT"/>
                <a:ea typeface="+mn-lt"/>
                <a:cs typeface="+mn-lt"/>
              </a:rPr>
              <a:t>Popularity.</a:t>
            </a:r>
            <a:endParaRPr lang="en-US" sz="2500">
              <a:latin typeface="Calisto M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6665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BF5439E-A994-3EE5-80B8-64D8C5A92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958" y="348900"/>
            <a:ext cx="10520127" cy="356535"/>
          </a:xfrm>
        </p:spPr>
        <p:txBody>
          <a:bodyPr>
            <a:noAutofit/>
          </a:bodyPr>
          <a:lstStyle/>
          <a:p>
            <a:pPr algn="ctr"/>
            <a:r>
              <a:rPr lang="en-US" sz="3600"/>
              <a:t>EDA for popularity </a:t>
            </a:r>
          </a:p>
        </p:txBody>
      </p:sp>
      <p:pic>
        <p:nvPicPr>
          <p:cNvPr id="2" name="Picture 1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CF3CF5A8-8159-BA01-49C3-5A526C4C5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591" y="942453"/>
            <a:ext cx="6526317" cy="399401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A68D56-C087-E0FE-B310-CFD56E9A3BC7}"/>
              </a:ext>
            </a:extLst>
          </p:cNvPr>
          <p:cNvSpPr txBox="1"/>
          <p:nvPr/>
        </p:nvSpPr>
        <p:spPr>
          <a:xfrm>
            <a:off x="3779114" y="5293137"/>
            <a:ext cx="5589494" cy="707886"/>
          </a:xfrm>
          <a:prstGeom prst="rect">
            <a:avLst/>
          </a:prstGeom>
          <a:solidFill>
            <a:schemeClr val="bg1"/>
          </a:solidFill>
          <a:ln w="57150">
            <a:solidFill>
              <a:srgbClr val="00B05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Calisto MT"/>
                <a:cs typeface="Arial"/>
              </a:rPr>
              <a:t>most Spotify tracks have </a:t>
            </a:r>
            <a:r>
              <a:rPr lang="en-US" sz="2000" b="1">
                <a:latin typeface="Calisto MT"/>
                <a:cs typeface="Arial"/>
              </a:rPr>
              <a:t>low to moderate popularity scores</a:t>
            </a:r>
            <a:r>
              <a:rPr lang="en-US" sz="2000">
                <a:latin typeface="Calisto MT"/>
                <a:cs typeface="Arial"/>
              </a:rPr>
              <a:t>, with a </a:t>
            </a:r>
            <a:r>
              <a:rPr lang="en-US" sz="2000" b="1">
                <a:latin typeface="Calisto MT"/>
                <a:cs typeface="Arial"/>
              </a:rPr>
              <a:t>median around 35</a:t>
            </a:r>
            <a:endParaRPr lang="en-US" sz="2000">
              <a:latin typeface="Calisto M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9560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F6C19A-30E3-001C-1A19-8812A6F8D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691" y="142729"/>
            <a:ext cx="9811637" cy="589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600" dirty="0" err="1"/>
              <a:t>EDa</a:t>
            </a:r>
            <a:r>
              <a:rPr lang="en-US" sz="3600" dirty="0"/>
              <a:t> for  the most popular genres</a:t>
            </a:r>
            <a:endParaRPr lang="en-US" dirty="0"/>
          </a:p>
          <a:p>
            <a:pPr>
              <a:lnSpc>
                <a:spcPct val="90000"/>
              </a:lnSpc>
            </a:pPr>
            <a:endParaRPr lang="en-US" sz="4000">
              <a:latin typeface="Arial"/>
              <a:cs typeface="Arial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19EF34C-5622-413F-9C9F-AC937E306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8549954-3C0C-48B7-9BE6-9B32C39D0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941DE2-1E04-BCDD-5770-8991998B6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3DB2ADC-AF19-4574-8C10-79B5B04FCA2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7D6D4C-BBCE-30CA-FB60-F1ABF5791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493" y="1122439"/>
            <a:ext cx="8020070" cy="402627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2C429F-E448-AE04-86D3-9F00356BE02A}"/>
              </a:ext>
            </a:extLst>
          </p:cNvPr>
          <p:cNvSpPr txBox="1"/>
          <p:nvPr/>
        </p:nvSpPr>
        <p:spPr>
          <a:xfrm>
            <a:off x="1676401" y="5374341"/>
            <a:ext cx="958999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500">
                <a:latin typeface="Arial"/>
                <a:cs typeface="Arial"/>
              </a:rPr>
              <a:t>‍</a:t>
            </a:r>
            <a:r>
              <a:rPr lang="en-US" sz="2000">
                <a:latin typeface="Calisto MT"/>
                <a:cs typeface="Arial"/>
              </a:rPr>
              <a:t>🎤 K-pop, Pop-film, and Chill follow closely with scores ~57-59.</a:t>
            </a:r>
            <a:endParaRPr lang="en-US"/>
          </a:p>
          <a:p>
            <a:pPr marL="228600" indent="-228600">
              <a:buFont typeface=""/>
              <a:buChar char="•"/>
            </a:pPr>
            <a:endParaRPr lang="en-US" sz="25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64CF08-9D3A-826C-8E89-7E68AF467188}"/>
              </a:ext>
            </a:extLst>
          </p:cNvPr>
          <p:cNvSpPr txBox="1"/>
          <p:nvPr/>
        </p:nvSpPr>
        <p:spPr>
          <a:xfrm>
            <a:off x="6606989" y="4903695"/>
            <a:ext cx="5701551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500">
              <a:latin typeface="Arial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53300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6B77363-E0A5-4701-9ED0-E9BB2C6B4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E82A33-7ED3-A4A3-7E06-B568D6D13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383" y="1450041"/>
            <a:ext cx="3839542" cy="35369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ko-KR" sz="4000" b="1"/>
              <a:t>Data Preprocessing &amp; Data Models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295AAA2-1E11-4525-B5C7-135F67031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0437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unch of different colored pictures on a wall">
            <a:extLst>
              <a:ext uri="{FF2B5EF4-FFF2-40B4-BE49-F238E27FC236}">
                <a16:creationId xmlns:a16="http://schemas.microsoft.com/office/drawing/2014/main" id="{1C661A33-838A-2E78-3265-2A6AFCACC8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888" b="14888"/>
          <a:stretch/>
        </p:blipFill>
        <p:spPr>
          <a:xfrm>
            <a:off x="4876800" y="10"/>
            <a:ext cx="7315200" cy="3428990"/>
          </a:xfrm>
          <a:prstGeom prst="rect">
            <a:avLst/>
          </a:prstGeom>
        </p:spPr>
      </p:pic>
      <p:pic>
        <p:nvPicPr>
          <p:cNvPr id="2" name="Picture 1" descr="Spotify Is Ready to Compete for Video Advertising">
            <a:extLst>
              <a:ext uri="{FF2B5EF4-FFF2-40B4-BE49-F238E27FC236}">
                <a16:creationId xmlns:a16="http://schemas.microsoft.com/office/drawing/2014/main" id="{EA541B26-00C4-29B6-46CC-14DE3B89BF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351" b="10316"/>
          <a:stretch/>
        </p:blipFill>
        <p:spPr>
          <a:xfrm>
            <a:off x="4876800" y="3429000"/>
            <a:ext cx="73152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1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56A9D-E531-9C93-CA93-94046F984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E6BBF-6652-0E31-24D6-D3363AC7E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91" y="218118"/>
            <a:ext cx="11034713" cy="1947106"/>
          </a:xfrm>
        </p:spPr>
        <p:txBody>
          <a:bodyPr/>
          <a:lstStyle/>
          <a:p>
            <a:pPr algn="ctr"/>
            <a:br>
              <a:rPr lang="en-US"/>
            </a:br>
            <a:r>
              <a:rPr lang="en-US"/>
              <a:t>DATA PREPROCESSING Process AND CLEANING</a:t>
            </a:r>
            <a:br>
              <a:rPr lang="en-US"/>
            </a:b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37922A-B7C7-1099-70A6-1C17118A9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43AB2C-7BED-4F37-935B-B1F540C36638}"/>
              </a:ext>
            </a:extLst>
          </p:cNvPr>
          <p:cNvSpPr txBox="1"/>
          <p:nvPr/>
        </p:nvSpPr>
        <p:spPr>
          <a:xfrm>
            <a:off x="971277" y="1562023"/>
            <a:ext cx="6130650" cy="47740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b="1"/>
              <a:t>Data Preprocessing</a:t>
            </a:r>
            <a:r>
              <a:rPr lang="en-US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Dropped irrelevant columns (like IDs, links, etc.) to reduce noise.</a:t>
            </a:r>
            <a:br>
              <a:rPr lang="en-US" sz="1600">
                <a:ea typeface="+mn-lt"/>
                <a:cs typeface="+mn-lt"/>
              </a:rPr>
            </a:br>
            <a:endParaRPr lang="en-US" sz="16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Encoded categorical features (e.g., mode, key, genre) into numerical values.</a:t>
            </a:r>
            <a:br>
              <a:rPr lang="en-US" sz="1600">
                <a:ea typeface="+mn-lt"/>
                <a:cs typeface="+mn-lt"/>
              </a:rPr>
            </a:b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Used </a:t>
            </a:r>
            <a:r>
              <a:rPr lang="en-US" sz="1600" err="1">
                <a:ea typeface="+mn-lt"/>
                <a:cs typeface="+mn-lt"/>
              </a:rPr>
              <a:t>MinMaxScaler</a:t>
            </a:r>
            <a:r>
              <a:rPr lang="en-US" sz="1600">
                <a:ea typeface="+mn-lt"/>
                <a:cs typeface="+mn-lt"/>
              </a:rPr>
              <a:t> to normalize numeric features and prevent scaling issues.</a:t>
            </a:r>
            <a:br>
              <a:rPr lang="en-US" sz="1600">
                <a:ea typeface="+mn-lt"/>
                <a:cs typeface="+mn-lt"/>
              </a:rPr>
            </a:br>
            <a:endParaRPr lang="en-US" sz="16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Applied SMOTE (Synthetic Minority Over-sampling Technique) to balance class distribution by generating synthetic samples of the minority class (unpopular tracks).</a:t>
            </a:r>
            <a:br>
              <a:rPr lang="en-US" sz="1600">
                <a:ea typeface="+mn-lt"/>
                <a:cs typeface="+mn-lt"/>
              </a:rPr>
            </a:b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Created a binary target by converting the continuous popularity score into two classes:</a:t>
            </a:r>
            <a:br>
              <a:rPr lang="en-US" sz="1600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>
                <a:latin typeface="Consolas"/>
              </a:rPr>
              <a:t>1 = Popular (≥ median)</a:t>
            </a:r>
            <a:r>
              <a:rPr lang="en-US" sz="1600">
                <a:ea typeface="+mn-lt"/>
                <a:cs typeface="+mn-lt"/>
              </a:rPr>
              <a:t> and </a:t>
            </a:r>
            <a:r>
              <a:rPr lang="en-US" sz="1600">
                <a:latin typeface="Consolas"/>
              </a:rPr>
              <a:t>0 = Not Popular (&lt; median)</a:t>
            </a:r>
            <a:r>
              <a:rPr lang="en-US" sz="1600">
                <a:ea typeface="+mn-lt"/>
                <a:cs typeface="+mn-lt"/>
              </a:rPr>
              <a:t> — for binary classification.</a:t>
            </a:r>
            <a:endParaRPr lang="en-US" sz="1600"/>
          </a:p>
          <a:p>
            <a:pPr>
              <a:lnSpc>
                <a:spcPct val="110000"/>
              </a:lnSpc>
              <a:spcAft>
                <a:spcPts val="1200"/>
              </a:spcAft>
            </a:pPr>
            <a:endParaRPr lang="en-US"/>
          </a:p>
        </p:txBody>
      </p:sp>
      <p:pic>
        <p:nvPicPr>
          <p:cNvPr id="6" name="Graphic 5" descr="Graph paper with calculator, ruler, highlighter, and pencils">
            <a:extLst>
              <a:ext uri="{FF2B5EF4-FFF2-40B4-BE49-F238E27FC236}">
                <a16:creationId xmlns:a16="http://schemas.microsoft.com/office/drawing/2014/main" id="{D2C38191-B8B6-86D6-F38D-4CDDAB68C8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20629" y="746343"/>
            <a:ext cx="5073042" cy="507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748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3D0AD61-C4EE-4A0B-8733-BAE046F63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9FE95-42FD-9AB0-913D-DFE3A18AF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803485" cy="84567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MODEL 1</a:t>
            </a:r>
            <a:br>
              <a:rPr lang="en-US" sz="2500"/>
            </a:br>
            <a:r>
              <a:rPr lang="en-US" sz="2500" err="1"/>
              <a:t>XGBoost</a:t>
            </a:r>
            <a:r>
              <a:rPr lang="en-US" sz="2500"/>
              <a:t>: Extreme Gradient Boosting Algorithm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627202-EFF9-43AD-A17D-9C0A58353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A lightbulb">
            <a:extLst>
              <a:ext uri="{FF2B5EF4-FFF2-40B4-BE49-F238E27FC236}">
                <a16:creationId xmlns:a16="http://schemas.microsoft.com/office/drawing/2014/main" id="{C1F7376B-A5D5-6C93-F677-271B12B1E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74959" y="1489733"/>
            <a:ext cx="1945696" cy="1945696"/>
          </a:xfrm>
          <a:prstGeom prst="rect">
            <a:avLst/>
          </a:prstGeom>
        </p:spPr>
      </p:pic>
      <p:pic>
        <p:nvPicPr>
          <p:cNvPr id="6" name="Picture 5" descr="XGBoost – What Is It and Why Does It Matter?">
            <a:extLst>
              <a:ext uri="{FF2B5EF4-FFF2-40B4-BE49-F238E27FC236}">
                <a16:creationId xmlns:a16="http://schemas.microsoft.com/office/drawing/2014/main" id="{9D0F2771-347C-4401-8512-A26B3F5526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2" y="3315461"/>
            <a:ext cx="4316289" cy="261139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D9D89-0B97-5577-308E-9F320E5DC4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85786" y="1855074"/>
            <a:ext cx="6017786" cy="40741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/>
              <a:t>Definition</a:t>
            </a:r>
            <a:endParaRPr lang="en-US"/>
          </a:p>
          <a:p>
            <a:r>
              <a:rPr lang="en-US" noProof="1"/>
              <a:t>XGBoost stands for extreme Gradient Boosting.</a:t>
            </a:r>
            <a:endParaRPr lang="en-US"/>
          </a:p>
          <a:p>
            <a:pPr marL="0" indent="0">
              <a:buNone/>
            </a:pPr>
            <a:r>
              <a:rPr lang="en-US" b="1"/>
              <a:t>Key Principle</a:t>
            </a:r>
            <a:endParaRPr lang="en-US"/>
          </a:p>
          <a:p>
            <a:r>
              <a:rPr lang="en-US" noProof="1"/>
              <a:t>Builds small sequential decision trees where each tree corrects the errors of the previous ones.</a:t>
            </a:r>
            <a:endParaRPr lang="en-US"/>
          </a:p>
          <a:p>
            <a:pPr marL="0" indent="0">
              <a:buNone/>
            </a:pPr>
            <a:r>
              <a:rPr lang="en-US" b="1"/>
              <a:t>Why It's Popular</a:t>
            </a:r>
            <a:endParaRPr lang="en-US"/>
          </a:p>
          <a:p>
            <a:r>
              <a:rPr lang="en-US" noProof="1"/>
              <a:t>Fast, scalable, and memory-efficient</a:t>
            </a:r>
            <a:endParaRPr lang="en-US"/>
          </a:p>
          <a:p>
            <a:r>
              <a:rPr lang="en-US" noProof="1"/>
              <a:t>Delivers strong results on structured/tabular data</a:t>
            </a:r>
            <a:endParaRPr lang="en-US"/>
          </a:p>
          <a:p>
            <a:r>
              <a:rPr lang="en-US" noProof="1"/>
              <a:t>Highly customizable with many hyperparameters</a:t>
            </a:r>
            <a:endParaRPr lang="en-US"/>
          </a:p>
          <a:p>
            <a:endParaRPr lang="en-US" noProof="1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22FEF2-9343-4D52-A0EA-3EB03CB8B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BC99EE-15DF-A164-D7A5-05B6D09C8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3DB2ADC-AF19-4574-8C10-79B5B04FCA2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56198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F793186-7957-945D-B906-35DD5DC677A4}"/>
              </a:ext>
            </a:extLst>
          </p:cNvPr>
          <p:cNvSpPr/>
          <p:nvPr/>
        </p:nvSpPr>
        <p:spPr>
          <a:xfrm>
            <a:off x="809230" y="4600814"/>
            <a:ext cx="4801040" cy="119823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A4025A9-7726-7F83-4A59-6CF84E4B9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640" y="983901"/>
            <a:ext cx="4670511" cy="1198580"/>
          </a:xfrm>
        </p:spPr>
        <p:txBody>
          <a:bodyPr/>
          <a:lstStyle/>
          <a:p>
            <a:r>
              <a:rPr lang="en-US" err="1">
                <a:ea typeface="+mj-lt"/>
                <a:cs typeface="+mj-lt"/>
              </a:rPr>
              <a:t>XGBoost</a:t>
            </a:r>
            <a:r>
              <a:rPr lang="en-US">
                <a:ea typeface="+mj-lt"/>
                <a:cs typeface="+mj-lt"/>
              </a:rPr>
              <a:t> Performance on Spotify Dataset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D1EAF7-58DB-398E-A0A7-0514B6F330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0319" y="2396695"/>
            <a:ext cx="4186974" cy="220659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 b="1">
                <a:ea typeface="+mn-lt"/>
                <a:cs typeface="+mn-lt"/>
              </a:rPr>
              <a:t>Accuracy (0.8122): Out of 16,269 tracks, </a:t>
            </a:r>
            <a:r>
              <a:rPr lang="en-US" sz="1600" b="1" err="1">
                <a:ea typeface="+mn-lt"/>
                <a:cs typeface="+mn-lt"/>
              </a:rPr>
              <a:t>XGBoost</a:t>
            </a:r>
            <a:r>
              <a:rPr lang="en-US" sz="1600" b="1">
                <a:ea typeface="+mn-lt"/>
                <a:cs typeface="+mn-lt"/>
              </a:rPr>
              <a:t> correctly classified 13,213</a:t>
            </a:r>
            <a:r>
              <a:rPr lang="en-US" sz="1600">
                <a:ea typeface="+mn-lt"/>
                <a:cs typeface="+mn-lt"/>
              </a:rPr>
              <a:t> as either popular or not popular.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600" b="1">
                <a:ea typeface="+mn-lt"/>
                <a:cs typeface="+mn-lt"/>
              </a:rPr>
              <a:t>F1 Score (~0.81): Balances both precision</a:t>
            </a:r>
            <a:r>
              <a:rPr lang="en-US" sz="1600">
                <a:ea typeface="+mn-lt"/>
                <a:cs typeface="+mn-lt"/>
              </a:rPr>
              <a:t> and </a:t>
            </a:r>
            <a:r>
              <a:rPr lang="en-US" sz="1600" b="1">
                <a:ea typeface="+mn-lt"/>
                <a:cs typeface="+mn-lt"/>
              </a:rPr>
              <a:t>recall</a:t>
            </a:r>
            <a:r>
              <a:rPr lang="en-US" sz="1600">
                <a:ea typeface="+mn-lt"/>
                <a:cs typeface="+mn-lt"/>
              </a:rPr>
              <a:t>, meaning the model is reliable at identifying both classes with minimal bias.</a:t>
            </a:r>
            <a:r>
              <a:rPr lang="en-US" sz="1600" b="1">
                <a:ea typeface="+mn-lt"/>
                <a:cs typeface="+mn-lt"/>
              </a:rPr>
              <a:t> 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A137E53-FBD3-20BC-7B61-06C47E634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619297-8159-6A4A-C3C4-C5D3B327A73C}"/>
              </a:ext>
            </a:extLst>
          </p:cNvPr>
          <p:cNvSpPr txBox="1"/>
          <p:nvPr/>
        </p:nvSpPr>
        <p:spPr>
          <a:xfrm>
            <a:off x="802341" y="4724400"/>
            <a:ext cx="4791882" cy="8860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algn="ctr">
              <a:lnSpc>
                <a:spcPct val="110000"/>
              </a:lnSpc>
              <a:spcAft>
                <a:spcPts val="1200"/>
              </a:spcAft>
            </a:pPr>
            <a:r>
              <a:rPr lang="en-US" sz="1600" b="1" err="1">
                <a:ea typeface="+mn-lt"/>
                <a:cs typeface="+mn-lt"/>
              </a:rPr>
              <a:t>XGBoost</a:t>
            </a:r>
            <a:r>
              <a:rPr lang="en-US" sz="1600" b="1">
                <a:ea typeface="+mn-lt"/>
                <a:cs typeface="+mn-lt"/>
              </a:rPr>
              <a:t> effectively caught most popular songs and avoided many mistakes — maintaining balance and generalization, largely due to SMOTE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9FC936-7230-62C1-4CDD-440F8E0551F6}"/>
              </a:ext>
            </a:extLst>
          </p:cNvPr>
          <p:cNvSpPr txBox="1"/>
          <p:nvPr/>
        </p:nvSpPr>
        <p:spPr>
          <a:xfrm>
            <a:off x="5791853" y="4596505"/>
            <a:ext cx="5613760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795"/>
              </a:lnSpc>
            </a:pPr>
            <a:r>
              <a:rPr lang="en-US" sz="2000" b="1" i="1">
                <a:solidFill>
                  <a:srgbClr val="00911F"/>
                </a:solidFill>
              </a:rPr>
              <a:t>We used SMOTE to balance the data by generating more samples of less frequent classes. This helped </a:t>
            </a:r>
            <a:r>
              <a:rPr lang="en-US" sz="2000" b="1" i="1" err="1">
                <a:solidFill>
                  <a:srgbClr val="00911F"/>
                </a:solidFill>
              </a:rPr>
              <a:t>XGBoost</a:t>
            </a:r>
            <a:r>
              <a:rPr lang="en-US" sz="2000" b="1" i="1">
                <a:solidFill>
                  <a:srgbClr val="00911F"/>
                </a:solidFill>
              </a:rPr>
              <a:t>, Voting Classifier and Balanced RF learn better from both types of songs.</a:t>
            </a:r>
          </a:p>
          <a:p>
            <a:pPr algn="l"/>
            <a:endParaRPr lang="en-US" b="1" i="1">
              <a:solidFill>
                <a:srgbClr val="00911F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C297CD-E5D6-C385-975F-C8D99EDD5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935" y="840940"/>
            <a:ext cx="5663853" cy="354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150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6E1DE-D988-960C-DAB5-9F76114BF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7336" y="952499"/>
            <a:ext cx="5367528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XGBoost Confusion Matrix Breakdown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B2B127-61FF-010C-3ED3-9A03A556E2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0" r="-438" b="-256"/>
          <a:stretch/>
        </p:blipFill>
        <p:spPr>
          <a:xfrm>
            <a:off x="208920" y="10"/>
            <a:ext cx="5605807" cy="4672355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2289" y="722376"/>
            <a:ext cx="15621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EBEEF04-935C-A06F-62F6-BCFF0B291A2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17336" y="2269235"/>
            <a:ext cx="5367528" cy="403935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The model correctly predicted </a:t>
            </a:r>
            <a:r>
              <a:rPr lang="en-US" b="1">
                <a:ea typeface="+mn-lt"/>
                <a:cs typeface="+mn-lt"/>
              </a:rPr>
              <a:t>13,213 out of 16,269</a:t>
            </a:r>
            <a:r>
              <a:rPr lang="en-US">
                <a:ea typeface="+mn-lt"/>
                <a:cs typeface="+mn-lt"/>
              </a:rPr>
              <a:t> tracks.</a:t>
            </a:r>
            <a:endParaRPr lang="en-US"/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Confusion Matrix Breakdown: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True Negatives (TN):</a:t>
            </a:r>
            <a:r>
              <a:rPr lang="en-US">
                <a:ea typeface="+mn-lt"/>
                <a:cs typeface="+mn-lt"/>
              </a:rPr>
              <a:t> 6,323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True Positives (TP):</a:t>
            </a:r>
            <a:r>
              <a:rPr lang="en-US">
                <a:ea typeface="+mn-lt"/>
                <a:cs typeface="+mn-lt"/>
              </a:rPr>
              <a:t> 6,890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False Positives (FP):</a:t>
            </a:r>
            <a:r>
              <a:rPr lang="en-US">
                <a:ea typeface="+mn-lt"/>
                <a:cs typeface="+mn-lt"/>
              </a:rPr>
              <a:t> 1,608 — non-popular songs misclassified as popular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False Negatives (FN):</a:t>
            </a:r>
            <a:r>
              <a:rPr lang="en-US">
                <a:ea typeface="+mn-lt"/>
                <a:cs typeface="+mn-lt"/>
              </a:rPr>
              <a:t> 1,448 — popular songs missed by the model</a:t>
            </a:r>
            <a:endParaRPr lang="en-US"/>
          </a:p>
          <a:p>
            <a:pPr marL="0" indent="0">
              <a:buNone/>
            </a:pPr>
            <a:r>
              <a:rPr lang="en-US" i="1" err="1">
                <a:ea typeface="+mn-lt"/>
                <a:cs typeface="+mn-lt"/>
              </a:rPr>
              <a:t>XGBoost</a:t>
            </a:r>
            <a:r>
              <a:rPr lang="en-US" i="1">
                <a:ea typeface="+mn-lt"/>
                <a:cs typeface="+mn-lt"/>
              </a:rPr>
              <a:t> delivers balanced and consistent performance, with strong precision and recall across both classes. </a:t>
            </a:r>
            <a:endParaRPr lang="en-US" i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2643B0-B668-8150-0AAC-AFA1C4310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3DB2ADC-AF19-4574-8C10-79B5B04FCA2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 sz="1800"/>
          </a:p>
        </p:txBody>
      </p:sp>
      <p:pic>
        <p:nvPicPr>
          <p:cNvPr id="8" name="Content Placeholder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F57923C-C77A-05C7-AABC-D39D52F04E2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4"/>
          <a:srcRect r="55477" b="-460"/>
          <a:stretch/>
        </p:blipFill>
        <p:spPr>
          <a:xfrm>
            <a:off x="1326376" y="4770971"/>
            <a:ext cx="3436008" cy="1767441"/>
          </a:xfrm>
        </p:spPr>
      </p:pic>
    </p:spTree>
    <p:extLst>
      <p:ext uri="{BB962C8B-B14F-4D97-AF65-F5344CB8AC3E}">
        <p14:creationId xmlns:p14="http://schemas.microsoft.com/office/powerpoint/2010/main" val="1475236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373BA-FC28-BDAF-0B4F-42B99C89F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7AD7-08C7-C013-5E61-DCF333AE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4" y="237409"/>
            <a:ext cx="11013147" cy="1201759"/>
          </a:xfrm>
        </p:spPr>
        <p:txBody>
          <a:bodyPr>
            <a:normAutofit/>
          </a:bodyPr>
          <a:lstStyle/>
          <a:p>
            <a:pPr algn="ctr"/>
            <a:r>
              <a:rPr lang="en-US">
                <a:ea typeface="+mj-lt"/>
                <a:cs typeface="+mj-lt"/>
              </a:rPr>
              <a:t>MODEL 2</a:t>
            </a:r>
            <a:br>
              <a:rPr lang="en-US">
                <a:ea typeface="+mj-lt"/>
                <a:cs typeface="+mj-lt"/>
              </a:rPr>
            </a:br>
            <a:r>
              <a:rPr lang="en-US">
                <a:ea typeface="+mj-lt"/>
                <a:cs typeface="+mj-lt"/>
              </a:rPr>
              <a:t>Voting Classifier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33BFE-BC86-C724-83E7-E2929E52F1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18945" y="2153482"/>
            <a:ext cx="6088803" cy="3330770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sz="2000" b="1" noProof="1"/>
          </a:p>
          <a:p>
            <a:pPr marL="457200" lvl="1" indent="0">
              <a:buNone/>
            </a:pPr>
            <a:endParaRPr lang="en-US" sz="2000" noProof="1"/>
          </a:p>
          <a:p>
            <a:pPr lvl="1">
              <a:buFont typeface="Courier New" panose="020B0604020202020204" pitchFamily="34" charset="0"/>
              <a:buChar char="o"/>
            </a:pPr>
            <a:endParaRPr lang="en-US" sz="2000" noProof="1">
              <a:ea typeface="+mn-lt"/>
              <a:cs typeface="+mn-lt"/>
            </a:endParaRPr>
          </a:p>
          <a:p>
            <a:endParaRPr lang="en-US" sz="2000" noProof="1">
              <a:ea typeface="+mn-lt"/>
              <a:cs typeface="+mn-lt"/>
            </a:endParaRPr>
          </a:p>
          <a:p>
            <a:endParaRPr lang="en-US" sz="2000" noProof="1"/>
          </a:p>
          <a:p>
            <a:endParaRPr lang="en-US" sz="2000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9F89D1-8CFD-BC71-AFAD-C8FF6A1F5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F4574-101B-EFA8-71A5-547619FA2375}"/>
              </a:ext>
            </a:extLst>
          </p:cNvPr>
          <p:cNvSpPr txBox="1"/>
          <p:nvPr/>
        </p:nvSpPr>
        <p:spPr>
          <a:xfrm>
            <a:off x="1072145" y="2457912"/>
            <a:ext cx="5385148" cy="27157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2000" b="1"/>
              <a:t>Why Voting Classifier? </a:t>
            </a:r>
            <a:endParaRPr lang="en-US" sz="200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lang="en-US" sz="2000"/>
              <a:t>Combines Logistic Regression, </a:t>
            </a:r>
            <a:r>
              <a:rPr lang="en-US" sz="2000" err="1"/>
              <a:t>XGBoost</a:t>
            </a:r>
            <a:r>
              <a:rPr lang="en-US" sz="2000"/>
              <a:t>, Random Forest</a:t>
            </a:r>
          </a:p>
          <a:p>
            <a:pPr marL="285750" indent="-28575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lang="en-US" sz="2000"/>
              <a:t>Balances model diversity</a:t>
            </a:r>
          </a:p>
          <a:p>
            <a:pPr marL="285750" indent="-28575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lang="en-US" sz="2000"/>
              <a:t>Improve predictive accuracy and stability</a:t>
            </a:r>
          </a:p>
          <a:p>
            <a:pPr marL="285750" indent="-28575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lang="en-US" sz="2000"/>
              <a:t>Reduces the risk of overfitting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A56044-A351-520A-5CA1-120FB6858306}"/>
              </a:ext>
            </a:extLst>
          </p:cNvPr>
          <p:cNvSpPr txBox="1"/>
          <p:nvPr/>
        </p:nvSpPr>
        <p:spPr>
          <a:xfrm>
            <a:off x="6139207" y="2457911"/>
            <a:ext cx="4784785" cy="2739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2000" b="1"/>
              <a:t>Why Soft voting?</a:t>
            </a:r>
            <a:endParaRPr lang="en-US"/>
          </a:p>
          <a:p>
            <a:pPr marL="285750" indent="-285750">
              <a:buFont typeface="Arial,Sans-Serif"/>
              <a:buChar char="•"/>
            </a:pPr>
            <a:r>
              <a:rPr lang="en-US" sz="2000"/>
              <a:t>More accurate: considers how confident each model is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/>
              <a:t>Works well with imbalanced data (combined with SMOTE)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/>
              <a:t>All selected models support probability prediction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/>
              <a:t>Better overall performance in testing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1742F9-5907-FF50-FC5C-1F542175E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59" y="2356680"/>
            <a:ext cx="5099605" cy="33126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4E02EC-3CB2-1FE5-2588-29AB3C7003B0}"/>
              </a:ext>
            </a:extLst>
          </p:cNvPr>
          <p:cNvSpPr txBox="1"/>
          <p:nvPr/>
        </p:nvSpPr>
        <p:spPr>
          <a:xfrm>
            <a:off x="969817" y="1516302"/>
            <a:ext cx="1071418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Definition</a:t>
            </a:r>
            <a:r>
              <a:rPr lang="en-US" sz="2000"/>
              <a:t>: </a:t>
            </a:r>
            <a:r>
              <a:rPr lang="en-US" sz="2000">
                <a:ea typeface="+mn-lt"/>
                <a:cs typeface="+mn-lt"/>
              </a:rPr>
              <a:t>A </a:t>
            </a:r>
            <a:r>
              <a:rPr lang="en-US" sz="2000" b="1">
                <a:ea typeface="+mn-lt"/>
                <a:cs typeface="+mn-lt"/>
              </a:rPr>
              <a:t>Voting Classifier</a:t>
            </a:r>
            <a:r>
              <a:rPr lang="en-US" sz="2000">
                <a:ea typeface="+mn-lt"/>
                <a:cs typeface="+mn-lt"/>
              </a:rPr>
              <a:t> is an </a:t>
            </a:r>
            <a:r>
              <a:rPr lang="en-US" sz="2000" b="1">
                <a:ea typeface="+mn-lt"/>
                <a:cs typeface="+mn-lt"/>
              </a:rPr>
              <a:t>ensemble machine learning model</a:t>
            </a:r>
            <a:r>
              <a:rPr lang="en-US" sz="2000">
                <a:ea typeface="+mn-lt"/>
                <a:cs typeface="+mn-lt"/>
              </a:rPr>
              <a:t> that combines the predictions of multiple different classifiers to improve overall performance.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1967936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2C4E8-67CD-5AE2-4DCB-8DA80A90D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3B477-B813-C0DC-FAE6-66A1E7ACC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Voting Classifier confusion matrix break down</a:t>
            </a:r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77C648D-DC09-2363-EF14-0961BD4FC15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45966" y="1718464"/>
            <a:ext cx="5206677" cy="276075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The model correctly predicted </a:t>
            </a:r>
            <a:r>
              <a:rPr lang="en-US" sz="1600" b="1">
                <a:ea typeface="+mn-lt"/>
                <a:cs typeface="+mn-lt"/>
              </a:rPr>
              <a:t>13,259 out of 16,269 tracks</a:t>
            </a:r>
            <a:r>
              <a:rPr lang="en-US" sz="1600">
                <a:ea typeface="+mn-lt"/>
                <a:cs typeface="+mn-lt"/>
              </a:rPr>
              <a:t> (</a:t>
            </a:r>
            <a:r>
              <a:rPr lang="en-US" sz="1600" b="1">
                <a:ea typeface="+mn-lt"/>
                <a:cs typeface="+mn-lt"/>
              </a:rPr>
              <a:t>TN + TP = 6431 + 6873</a:t>
            </a:r>
            <a:r>
              <a:rPr lang="en-US" sz="1600">
                <a:ea typeface="+mn-lt"/>
                <a:cs typeface="+mn-lt"/>
              </a:rPr>
              <a:t>).</a:t>
            </a:r>
          </a:p>
          <a:p>
            <a:pPr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False Positives (1518)</a:t>
            </a:r>
            <a:r>
              <a:rPr lang="en-US" sz="1600">
                <a:ea typeface="+mn-lt"/>
                <a:cs typeface="+mn-lt"/>
              </a:rPr>
              <a:t>: Non-popular songs misclassified as popular.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False Negatives (1465)</a:t>
            </a:r>
            <a:r>
              <a:rPr lang="en-US" sz="1600">
                <a:ea typeface="+mn-lt"/>
                <a:cs typeface="+mn-lt"/>
              </a:rPr>
              <a:t>: Popular songs missed by the model.</a:t>
            </a:r>
            <a:endParaRPr lang="en-US"/>
          </a:p>
          <a:p>
            <a:pPr>
              <a:buFont typeface="Arial"/>
              <a:buChar char="•"/>
            </a:pPr>
            <a:endParaRPr lang="en-US" sz="1600"/>
          </a:p>
          <a:p>
            <a:pPr>
              <a:lnSpc>
                <a:spcPct val="150000"/>
              </a:lnSpc>
              <a:buFont typeface="Arial"/>
              <a:buChar char="•"/>
            </a:pPr>
            <a:endParaRPr lang="en-US" sz="16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2B3490-D29C-1C1F-AF18-0F7C2E588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4" name="Picture 3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21A3F571-4678-8DA3-D2D6-1A5BB9834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80" y="1576832"/>
            <a:ext cx="5025878" cy="4532723"/>
          </a:xfrm>
          <a:prstGeom prst="rect">
            <a:avLst/>
          </a:prstGeom>
        </p:spPr>
      </p:pic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FAF144E-DDC3-D27E-9435-DA62B559A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912" y="4354005"/>
            <a:ext cx="5336946" cy="137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449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A9909-63D9-DA11-21E1-13E1E5F23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28E7B-A724-E830-C079-B7C3B2137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Voting classifier Performance on Spotify dataset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020E82-6B4E-B12B-F20A-5FDACB161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B2458-CDFF-A711-9BCC-5A1C8514CD0D}"/>
              </a:ext>
            </a:extLst>
          </p:cNvPr>
          <p:cNvSpPr txBox="1"/>
          <p:nvPr/>
        </p:nvSpPr>
        <p:spPr>
          <a:xfrm>
            <a:off x="7040478" y="1864537"/>
            <a:ext cx="4425433" cy="397031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Accuracy: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The model achieved an overall accuracy of </a:t>
            </a:r>
            <a:r>
              <a:rPr lang="en-US" b="1">
                <a:ea typeface="+mn-lt"/>
                <a:cs typeface="+mn-lt"/>
              </a:rPr>
              <a:t>82%</a:t>
            </a:r>
            <a:r>
              <a:rPr lang="en-US">
                <a:ea typeface="+mn-lt"/>
                <a:cs typeface="+mn-lt"/>
              </a:rPr>
              <a:t>, meaning it correctly classified 82% of all tracks in the test set (13,192 out of 16,269 samples).</a:t>
            </a:r>
            <a:endParaRPr lang="en-US"/>
          </a:p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F1-Score:</a:t>
            </a:r>
          </a:p>
          <a:p>
            <a:pPr marL="742950" lvl="1" indent="-285750">
              <a:buFont typeface="Courier New"/>
              <a:buChar char="o"/>
            </a:pPr>
            <a:r>
              <a:rPr lang="en-US" b="1">
                <a:ea typeface="+mn-lt"/>
                <a:cs typeface="+mn-lt"/>
              </a:rPr>
              <a:t>Class 0 (non-popular)</a:t>
            </a:r>
            <a:r>
              <a:rPr lang="en-US">
                <a:ea typeface="+mn-lt"/>
                <a:cs typeface="+mn-lt"/>
              </a:rPr>
              <a:t> F1-score: </a:t>
            </a:r>
            <a:r>
              <a:rPr lang="en-US" b="1">
                <a:ea typeface="+mn-lt"/>
                <a:cs typeface="+mn-lt"/>
              </a:rPr>
              <a:t>0.81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 b="1">
                <a:ea typeface="+mn-lt"/>
                <a:cs typeface="+mn-lt"/>
              </a:rPr>
              <a:t>Class 1 (popular)</a:t>
            </a:r>
            <a:r>
              <a:rPr lang="en-US">
                <a:ea typeface="+mn-lt"/>
                <a:cs typeface="+mn-lt"/>
              </a:rPr>
              <a:t> F1-score: </a:t>
            </a:r>
            <a:r>
              <a:rPr lang="en-US" b="1">
                <a:ea typeface="+mn-lt"/>
                <a:cs typeface="+mn-lt"/>
              </a:rPr>
              <a:t>0.82</a:t>
            </a:r>
          </a:p>
          <a:p>
            <a:pPr lvl="1"/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This shows the model performs consistently well across both classes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1E8949-1735-0803-0533-A09212B8BCF5}"/>
              </a:ext>
            </a:extLst>
          </p:cNvPr>
          <p:cNvSpPr txBox="1"/>
          <p:nvPr/>
        </p:nvSpPr>
        <p:spPr>
          <a:xfrm>
            <a:off x="860122" y="4136685"/>
            <a:ext cx="6142449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Effect of Using SMOTE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 </a:t>
            </a:r>
            <a:r>
              <a:rPr lang="en-US" b="1" i="1">
                <a:solidFill>
                  <a:srgbClr val="00911F"/>
                </a:solidFill>
                <a:ea typeface="+mn-lt"/>
                <a:cs typeface="+mn-lt"/>
              </a:rPr>
              <a:t>F1-score for the positive class</a:t>
            </a:r>
            <a:r>
              <a:rPr lang="en-US">
                <a:ea typeface="+mn-lt"/>
                <a:cs typeface="+mn-lt"/>
              </a:rPr>
              <a:t> increased to </a:t>
            </a:r>
            <a:r>
              <a:rPr lang="en-US" b="1">
                <a:solidFill>
                  <a:srgbClr val="00911F"/>
                </a:solidFill>
                <a:ea typeface="+mn-lt"/>
                <a:cs typeface="+mn-lt"/>
              </a:rPr>
              <a:t>0.82</a:t>
            </a:r>
            <a:r>
              <a:rPr lang="en-US">
                <a:solidFill>
                  <a:srgbClr val="00911F"/>
                </a:solidFill>
                <a:ea typeface="+mn-lt"/>
                <a:cs typeface="+mn-lt"/>
              </a:rPr>
              <a:t>.</a:t>
            </a:r>
            <a:endParaRPr lang="en-US" b="1">
              <a:solidFill>
                <a:srgbClr val="00911F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>
                <a:solidFill>
                  <a:srgbClr val="00911F"/>
                </a:solidFill>
                <a:ea typeface="+mn-lt"/>
                <a:cs typeface="+mn-lt"/>
              </a:rPr>
              <a:t>Accuracy remained above 81%</a:t>
            </a:r>
            <a:r>
              <a:rPr lang="en-US" b="1">
                <a:ea typeface="+mn-lt"/>
                <a:cs typeface="+mn-lt"/>
              </a:rPr>
              <a:t>: </a:t>
            </a:r>
            <a:r>
              <a:rPr lang="en-US">
                <a:ea typeface="+mn-lt"/>
                <a:cs typeface="+mn-lt"/>
              </a:rPr>
              <a:t>The model improved its ability to detect the minority class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The model became</a:t>
            </a:r>
            <a:r>
              <a:rPr lang="en-US" b="1" i="1">
                <a:solidFill>
                  <a:srgbClr val="00911F"/>
                </a:solidFill>
                <a:ea typeface="+mn-lt"/>
                <a:cs typeface="+mn-lt"/>
              </a:rPr>
              <a:t> less likely to miss popular songs (class 1) → resulting in fewer false negatives.</a:t>
            </a:r>
            <a:endParaRPr lang="en-US" b="1" i="1">
              <a:solidFill>
                <a:srgbClr val="00911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>
              <a:ea typeface="+mn-lt"/>
              <a:cs typeface="+mn-lt"/>
            </a:endParaRP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14B5C2F0-C2F1-CEC8-92DF-28FA61269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71" y="1864471"/>
            <a:ext cx="5888318" cy="225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99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4E64E-F1CB-5492-BE7C-D6E9E025C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F02C-D911-3549-2C66-D6730F1D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91" y="237409"/>
            <a:ext cx="11034713" cy="1927815"/>
          </a:xfrm>
        </p:spPr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MODEL 3</a:t>
            </a:r>
            <a:br>
              <a:rPr lang="en-US">
                <a:ea typeface="+mj-lt"/>
                <a:cs typeface="+mj-lt"/>
              </a:rPr>
            </a:br>
            <a:r>
              <a:rPr lang="en-US">
                <a:ea typeface="+mj-lt"/>
                <a:cs typeface="+mj-lt"/>
              </a:rPr>
              <a:t>BALANCED RANDOM FOREST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73DD3-3C21-3521-2356-A737545CBB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1475" y="1710834"/>
            <a:ext cx="7923335" cy="404658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noProof="1">
                <a:ea typeface="+mn-lt"/>
                <a:cs typeface="+mn-lt"/>
              </a:rPr>
              <a:t>Definition</a:t>
            </a:r>
            <a:r>
              <a:rPr lang="en-US" noProof="1">
                <a:ea typeface="+mn-lt"/>
                <a:cs typeface="+mn-lt"/>
              </a:rPr>
              <a:t>: a variant of the traditional Random Forest Classifier,                 but it includes </a:t>
            </a:r>
            <a:r>
              <a:rPr lang="en-US" b="1" i="1" noProof="1">
                <a:solidFill>
                  <a:srgbClr val="00911F"/>
                </a:solidFill>
                <a:ea typeface="+mn-lt"/>
                <a:cs typeface="+mn-lt"/>
              </a:rPr>
              <a:t>class balancing techniques</a:t>
            </a:r>
            <a:r>
              <a:rPr lang="en-US" noProof="1">
                <a:ea typeface="+mn-lt"/>
                <a:cs typeface="+mn-lt"/>
              </a:rPr>
              <a:t> during the model training process.</a:t>
            </a:r>
            <a:endParaRPr lang="en-US">
              <a:ea typeface="+mn-lt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en-US" b="1" noProof="1">
                <a:ea typeface="+mn-lt"/>
                <a:cs typeface="+mn-lt"/>
              </a:rPr>
              <a:t>Key Principle</a:t>
            </a:r>
            <a:r>
              <a:rPr lang="en-US" noProof="1">
                <a:ea typeface="+mn-lt"/>
                <a:cs typeface="+mn-lt"/>
              </a:rPr>
              <a:t>: During each tree construction, it </a:t>
            </a:r>
            <a:r>
              <a:rPr lang="en-US" b="1" i="1" noProof="1">
                <a:solidFill>
                  <a:srgbClr val="00911F"/>
                </a:solidFill>
                <a:ea typeface="+mn-lt"/>
                <a:cs typeface="+mn-lt"/>
              </a:rPr>
              <a:t>randomly under-samples</a:t>
            </a:r>
            <a:r>
              <a:rPr lang="en-US" noProof="1">
                <a:ea typeface="+mn-lt"/>
                <a:cs typeface="+mn-lt"/>
              </a:rPr>
              <a:t> the majority class to match the minority class.</a:t>
            </a:r>
            <a:endParaRPr lang="en-US">
              <a:ea typeface="+mn-lt"/>
              <a:cs typeface="+mn-lt"/>
            </a:endParaRPr>
          </a:p>
          <a:p>
            <a:pPr marL="0" indent="0" algn="just">
              <a:lnSpc>
                <a:spcPct val="200000"/>
              </a:lnSpc>
              <a:buNone/>
            </a:pPr>
            <a:r>
              <a:rPr lang="en-US" b="1" noProof="1">
                <a:solidFill>
                  <a:srgbClr val="000000"/>
                </a:solidFill>
                <a:ea typeface="+mn-lt"/>
                <a:cs typeface="+mn-lt"/>
              </a:rPr>
              <a:t>Why It’s Popular</a:t>
            </a:r>
            <a:r>
              <a:rPr lang="en-US" noProof="1">
                <a:solidFill>
                  <a:srgbClr val="000000"/>
                </a:solidFill>
                <a:ea typeface="+mn-lt"/>
                <a:cs typeface="+mn-lt"/>
              </a:rPr>
              <a:t>:</a:t>
            </a:r>
            <a:endParaRPr lang="en-US">
              <a:solidFill>
                <a:srgbClr val="00000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noProof="1">
                <a:ea typeface="+mn-lt"/>
                <a:cs typeface="+mn-lt"/>
              </a:rPr>
              <a:t>Reduces bias by </a:t>
            </a:r>
            <a:r>
              <a:rPr lang="en-US" b="1" i="1" noProof="1">
                <a:solidFill>
                  <a:srgbClr val="00911F"/>
                </a:solidFill>
                <a:ea typeface="+mn-lt"/>
                <a:cs typeface="+mn-lt"/>
              </a:rPr>
              <a:t>balancing the classes within each tree</a:t>
            </a:r>
            <a:r>
              <a:rPr lang="en-US" noProof="1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algn="just">
              <a:lnSpc>
                <a:spcPct val="120000"/>
              </a:lnSpc>
            </a:pPr>
            <a:r>
              <a:rPr lang="en-US" noProof="1">
                <a:ea typeface="+mn-lt"/>
                <a:cs typeface="+mn-lt"/>
              </a:rPr>
              <a:t>Best for Highly imbalanced datasets.</a:t>
            </a:r>
            <a:endParaRPr lang="en-US">
              <a:ea typeface="+mn-lt"/>
              <a:cs typeface="+mn-lt"/>
            </a:endParaRPr>
          </a:p>
          <a:p>
            <a:pPr algn="just">
              <a:lnSpc>
                <a:spcPct val="120000"/>
              </a:lnSpc>
            </a:pPr>
            <a:r>
              <a:rPr lang="en-US" noProof="1">
                <a:ea typeface="+mn-lt"/>
                <a:cs typeface="+mn-lt"/>
              </a:rPr>
              <a:t>More balanced, less biased predictions</a:t>
            </a:r>
            <a:endParaRPr lang="en-US"/>
          </a:p>
          <a:p>
            <a:pPr>
              <a:lnSpc>
                <a:spcPct val="120000"/>
              </a:lnSpc>
            </a:pPr>
            <a:endParaRPr lang="en-US" sz="2000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C982F6-21BF-55CF-F958-A8CB80ED5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86DF58-8943-962F-A4DC-427589777803}"/>
              </a:ext>
            </a:extLst>
          </p:cNvPr>
          <p:cNvSpPr txBox="1"/>
          <p:nvPr/>
        </p:nvSpPr>
        <p:spPr>
          <a:xfrm>
            <a:off x="9135370" y="2936555"/>
            <a:ext cx="2859876" cy="40688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600" b="1"/>
              <a:t>Data Preprocessing</a:t>
            </a:r>
            <a:r>
              <a:rPr lang="en-US" sz="1600"/>
              <a:t>:</a:t>
            </a:r>
          </a:p>
          <a:p>
            <a:pPr marL="285750" indent="-28575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600"/>
              <a:t>Dropped irrelevant columns (IDs, etc.).</a:t>
            </a:r>
          </a:p>
          <a:p>
            <a:pPr marL="285750" indent="-28575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600" b="1"/>
              <a:t>Encoded</a:t>
            </a:r>
            <a:r>
              <a:rPr lang="en-US" sz="1600"/>
              <a:t> categorical features (mode, key, genre).</a:t>
            </a:r>
          </a:p>
          <a:p>
            <a:pPr marL="285750" indent="-28575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600"/>
              <a:t>Used </a:t>
            </a:r>
            <a:r>
              <a:rPr lang="en-US" sz="1600" b="1" err="1"/>
              <a:t>MinMaxScaler</a:t>
            </a:r>
            <a:r>
              <a:rPr lang="en-US" sz="1600"/>
              <a:t> to normalize numeric features.</a:t>
            </a:r>
          </a:p>
          <a:p>
            <a:pPr marL="285750" indent="-28575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600" b="1"/>
              <a:t>SMOTE</a:t>
            </a:r>
            <a:endParaRPr lang="en-US" sz="1600"/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endParaRPr lang="en-US" sz="2000"/>
          </a:p>
          <a:p>
            <a:endParaRPr lang="en-US"/>
          </a:p>
        </p:txBody>
      </p:sp>
      <p:pic>
        <p:nvPicPr>
          <p:cNvPr id="5" name="Graphic 4" descr="A group of trees with bushes and flowers">
            <a:extLst>
              <a:ext uri="{FF2B5EF4-FFF2-40B4-BE49-F238E27FC236}">
                <a16:creationId xmlns:a16="http://schemas.microsoft.com/office/drawing/2014/main" id="{3F79ADE0-1475-E163-D12C-E29FE39AF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9780" y="3134445"/>
            <a:ext cx="3765179" cy="366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3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E5F9-8C32-4DEB-A5CF-0DE53C607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32B00-5CD7-B491-D1F7-EDA0D4F41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91" y="237409"/>
            <a:ext cx="11034713" cy="1927815"/>
          </a:xfrm>
        </p:spPr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MODEL 3</a:t>
            </a:r>
            <a:br>
              <a:rPr lang="en-US">
                <a:ea typeface="+mj-lt"/>
                <a:cs typeface="+mj-lt"/>
              </a:rPr>
            </a:br>
            <a:r>
              <a:rPr lang="en-US">
                <a:ea typeface="+mj-lt"/>
                <a:cs typeface="+mj-lt"/>
              </a:rPr>
              <a:t>BALANCED RANDOM FOREST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E0E59-D7D6-767A-19D2-70B05035BE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1475" y="1710834"/>
            <a:ext cx="6118847" cy="6208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i="1" noProof="1">
                <a:latin typeface="Sabon Next LT"/>
                <a:ea typeface="+mn-lt"/>
                <a:cs typeface="+mn-lt"/>
              </a:rPr>
              <a:t>What's the difference between RF and Balanced RF?</a:t>
            </a:r>
            <a:endParaRPr lang="en-US" sz="2000"/>
          </a:p>
          <a:p>
            <a:endParaRPr lang="en-US" sz="2000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94A102-B265-04E8-8E22-A067FD37F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78F02D-7BAC-6935-B90B-AEF2F9490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076825"/>
              </p:ext>
            </p:extLst>
          </p:nvPr>
        </p:nvGraphicFramePr>
        <p:xfrm>
          <a:off x="892256" y="2330548"/>
          <a:ext cx="10571229" cy="336615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951237">
                  <a:extLst>
                    <a:ext uri="{9D8B030D-6E8A-4147-A177-3AD203B41FA5}">
                      <a16:colId xmlns:a16="http://schemas.microsoft.com/office/drawing/2014/main" val="1424710486"/>
                    </a:ext>
                  </a:extLst>
                </a:gridCol>
                <a:gridCol w="3822094">
                  <a:extLst>
                    <a:ext uri="{9D8B030D-6E8A-4147-A177-3AD203B41FA5}">
                      <a16:colId xmlns:a16="http://schemas.microsoft.com/office/drawing/2014/main" val="1868613072"/>
                    </a:ext>
                  </a:extLst>
                </a:gridCol>
                <a:gridCol w="3797898">
                  <a:extLst>
                    <a:ext uri="{9D8B030D-6E8A-4147-A177-3AD203B41FA5}">
                      <a16:colId xmlns:a16="http://schemas.microsoft.com/office/drawing/2014/main" val="456714843"/>
                    </a:ext>
                  </a:extLst>
                </a:gridCol>
              </a:tblGrid>
              <a:tr h="561026">
                <a:tc>
                  <a:txBody>
                    <a:bodyPr/>
                    <a:lstStyle/>
                    <a:p>
                      <a:r>
                        <a:rPr lang="en-US" sz="1600" b="1"/>
                        <a:t>Aspect</a:t>
                      </a:r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err="1"/>
                        <a:t>RandomForestClassifier</a:t>
                      </a:r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err="1"/>
                        <a:t>BalancedRandomForestClassifier</a:t>
                      </a:r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654784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r>
                        <a:rPr lang="en-US" sz="1400" b="1"/>
                        <a:t>Library</a:t>
                      </a:r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scikit-learn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err="1"/>
                        <a:t>imblearn</a:t>
                      </a:r>
                      <a:r>
                        <a:rPr lang="en-US" sz="1400"/>
                        <a:t> (imbalanced-learn)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885412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r>
                        <a:rPr lang="en-US" sz="1400" b="1"/>
                        <a:t>Sampling Method</a:t>
                      </a:r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Bootstrapping from the entire dataset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Bootstrapping with balanced class sampling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5299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r>
                        <a:rPr lang="en-US" sz="1400" b="1"/>
                        <a:t>Handling Imbalance</a:t>
                      </a:r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 specific handling (prone to majority bias)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Actively balances classes within each tree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399484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r>
                        <a:rPr lang="en-US" sz="1400" b="1"/>
                        <a:t>Performance on Imbalanced Data</a:t>
                      </a:r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May be biased towards majority class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More balanced, less biased predictions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64810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r>
                        <a:rPr lang="en-US" sz="1400" b="1"/>
                        <a:t>Use Case</a:t>
                      </a:r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Balanced or slightly imbalanced datasets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Highly imbalanced datasets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908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101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D87C7-C455-745E-6521-6D5D5F7F0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0ED90-FE13-3F30-7819-0D699B030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BALANCED RF Confusion Matrix Breakdown</a:t>
            </a:r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C081E4E-B0EE-AF71-5C46-E2943FF72E2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45966" y="1718464"/>
            <a:ext cx="4645389" cy="276075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The model </a:t>
            </a:r>
            <a:r>
              <a:rPr lang="en-US" sz="1600" b="1">
                <a:ea typeface="+mn-lt"/>
                <a:cs typeface="+mn-lt"/>
              </a:rPr>
              <a:t>correctly predicted 13,263 out of 16,269 tracks</a:t>
            </a:r>
            <a:r>
              <a:rPr lang="en-US" sz="1600">
                <a:ea typeface="+mn-lt"/>
                <a:cs typeface="+mn-lt"/>
              </a:rPr>
              <a:t> (TN + TP).</a:t>
            </a:r>
            <a:endParaRPr lang="en-US" sz="1600"/>
          </a:p>
          <a:p>
            <a:pPr>
              <a:lnSpc>
                <a:spcPct val="150000"/>
              </a:lnSpc>
              <a:buFont typeface="Arial"/>
            </a:pPr>
            <a:r>
              <a:rPr lang="en-US" sz="1600" b="1">
                <a:ea typeface="+mn-lt"/>
                <a:cs typeface="+mn-lt"/>
              </a:rPr>
              <a:t>False Positives (1544):</a:t>
            </a:r>
            <a:r>
              <a:rPr lang="en-US" sz="1600">
                <a:ea typeface="+mn-lt"/>
                <a:cs typeface="+mn-lt"/>
              </a:rPr>
              <a:t> Non-popular songs misclassified as popular.</a:t>
            </a:r>
          </a:p>
          <a:p>
            <a:pPr>
              <a:lnSpc>
                <a:spcPct val="150000"/>
              </a:lnSpc>
              <a:buFont typeface="Arial"/>
            </a:pPr>
            <a:r>
              <a:rPr lang="en-US" sz="1600" b="1">
                <a:ea typeface="+mn-lt"/>
                <a:cs typeface="+mn-lt"/>
              </a:rPr>
              <a:t>False Negatives (1462):</a:t>
            </a:r>
            <a:r>
              <a:rPr lang="en-US" sz="1600">
                <a:ea typeface="+mn-lt"/>
                <a:cs typeface="+mn-lt"/>
              </a:rPr>
              <a:t> Popular songs missed by the model.</a:t>
            </a:r>
          </a:p>
          <a:p>
            <a:pPr>
              <a:buFont typeface="Arial"/>
              <a:buChar char="•"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78C411-4F0B-F6CB-6211-A9630821CB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4" name="Picture 3" descr="A green squares with white numbers&#10;&#10;AI-generated content may be incorrect.">
            <a:extLst>
              <a:ext uri="{FF2B5EF4-FFF2-40B4-BE49-F238E27FC236}">
                <a16:creationId xmlns:a16="http://schemas.microsoft.com/office/drawing/2014/main" id="{0F567C84-DB00-6620-52E9-BA76D11FA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85" y="1738923"/>
            <a:ext cx="4606321" cy="398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020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163B1-E6C7-142E-4C85-20DC7675A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2227A-68D9-3CE7-09DE-77C9BB220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BALANCED RF Performance on Spotify dataset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A9ED02-B79F-16A8-15CB-7EDA3F5FD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8CBF0-E900-99D7-DCDB-9989F32573D3}"/>
              </a:ext>
            </a:extLst>
          </p:cNvPr>
          <p:cNvSpPr txBox="1"/>
          <p:nvPr/>
        </p:nvSpPr>
        <p:spPr>
          <a:xfrm>
            <a:off x="1269198" y="4325525"/>
            <a:ext cx="9658792" cy="110491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b="1">
                <a:ea typeface="+mn-lt"/>
                <a:cs typeface="+mn-lt"/>
              </a:rPr>
              <a:t>Accuracy:</a:t>
            </a:r>
            <a:r>
              <a:rPr lang="en-US">
                <a:ea typeface="+mn-lt"/>
                <a:cs typeface="+mn-lt"/>
              </a:rPr>
              <a:t> 81.52% - The model correctly predicts the popularity status of tracks 81% of the time.</a:t>
            </a:r>
          </a:p>
          <a:p>
            <a:r>
              <a:rPr lang="en-US" b="1">
                <a:ea typeface="+mn-lt"/>
                <a:cs typeface="+mn-lt"/>
              </a:rPr>
              <a:t>F1-Score:</a:t>
            </a:r>
            <a:r>
              <a:rPr lang="en-US">
                <a:ea typeface="+mn-lt"/>
                <a:cs typeface="+mn-lt"/>
              </a:rPr>
              <a:t> Around 0.81 for not popular and 0.82 for popular, indicating a balanced performance between precision and recall.</a:t>
            </a:r>
            <a:endParaRPr lang="en-US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6A79A414-9F25-5D12-2BCF-9B92763F6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966" y="1836452"/>
            <a:ext cx="5104993" cy="2103966"/>
          </a:xfrm>
          <a:prstGeom prst="rect">
            <a:avLst/>
          </a:prstGeom>
        </p:spPr>
      </p:pic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416BA9F-F119-23D8-1C9A-359619DA5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115" y="2288361"/>
            <a:ext cx="3790950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195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AE0066-B494-A64C-EFFD-8BCE963EB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0E52DF2-6802-459B-AC2A-AF976DEB1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A3408D-9FD7-3C93-CDFD-F90737C9E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2184" y="2386295"/>
            <a:ext cx="3730839" cy="3569150"/>
          </a:xfrm>
        </p:spPr>
        <p:txBody>
          <a:bodyPr vert="horz" lIns="91440" tIns="45720" rIns="91440" bIns="45720" rtlCol="0" anchor="b">
            <a:normAutofit/>
          </a:bodyPr>
          <a:lstStyle/>
          <a:p>
            <a:br>
              <a:rPr lang="en-US" altLang="ko-KR" sz="4000" b="1"/>
            </a:br>
            <a:r>
              <a:rPr lang="en-US" altLang="ko-KR" sz="4000" b="1"/>
              <a:t>Training Models -</a:t>
            </a:r>
            <a:br>
              <a:rPr lang="en-US" altLang="ko-KR" sz="4000" b="1"/>
            </a:br>
            <a:r>
              <a:rPr lang="en-US" altLang="ko-KR" sz="4000" b="1"/>
              <a:t>Comparative</a:t>
            </a:r>
            <a:br>
              <a:rPr lang="en-US" altLang="ko-KR" sz="4000" b="1"/>
            </a:br>
            <a:r>
              <a:rPr lang="en-US" altLang="ko-KR" sz="4000" b="1"/>
              <a:t>Studies</a:t>
            </a:r>
            <a:endParaRPr lang="en-US" altLang="ko-KR" sz="4000"/>
          </a:p>
        </p:txBody>
      </p:sp>
      <p:pic>
        <p:nvPicPr>
          <p:cNvPr id="2" name="Picture 1" descr="What is Machine Learning? - Let's Talk Science">
            <a:extLst>
              <a:ext uri="{FF2B5EF4-FFF2-40B4-BE49-F238E27FC236}">
                <a16:creationId xmlns:a16="http://schemas.microsoft.com/office/drawing/2014/main" id="{D10A23AD-D3CE-FCDA-5F9C-4F4C4E24A6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6322"/>
          <a:stretch/>
        </p:blipFill>
        <p:spPr>
          <a:xfrm>
            <a:off x="20" y="10"/>
            <a:ext cx="7320707" cy="685798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153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402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2FB95-291E-A596-63E4-B37280018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5BA18-6EC3-7E4E-08B5-3EC4F24C0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91" y="148345"/>
            <a:ext cx="11034713" cy="2016879"/>
          </a:xfrm>
        </p:spPr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MODEL Comparison</a:t>
            </a:r>
            <a:br>
              <a:rPr lang="en-US">
                <a:ea typeface="+mj-lt"/>
                <a:cs typeface="+mj-lt"/>
              </a:rPr>
            </a:br>
            <a:r>
              <a:rPr lang="en-US"/>
              <a:t>Models: </a:t>
            </a:r>
            <a:r>
              <a:rPr lang="en-US" err="1"/>
              <a:t>XGBoost</a:t>
            </a:r>
            <a:r>
              <a:rPr lang="en-US"/>
              <a:t>, Voting Classifier and Balanced Random Forest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B94DA-BC41-23D5-CBEB-9A7E02AD0F1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1475" y="1710834"/>
            <a:ext cx="6118847" cy="6208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i="1" noProof="1">
                <a:latin typeface="Sabon Next LT"/>
                <a:ea typeface="+mn-lt"/>
                <a:cs typeface="Sabon Next LT"/>
              </a:rPr>
              <a:t>Accuracy &amp; F1 Score Comparison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04257E-4A89-ABD6-1AD4-D0264C15C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692D28-AD00-F369-1148-B8C5CC8ED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04483"/>
              </p:ext>
            </p:extLst>
          </p:nvPr>
        </p:nvGraphicFramePr>
        <p:xfrm>
          <a:off x="887260" y="2254684"/>
          <a:ext cx="4331043" cy="2449759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206363">
                  <a:extLst>
                    <a:ext uri="{9D8B030D-6E8A-4147-A177-3AD203B41FA5}">
                      <a16:colId xmlns:a16="http://schemas.microsoft.com/office/drawing/2014/main" val="1424710486"/>
                    </a:ext>
                  </a:extLst>
                </a:gridCol>
                <a:gridCol w="1562340">
                  <a:extLst>
                    <a:ext uri="{9D8B030D-6E8A-4147-A177-3AD203B41FA5}">
                      <a16:colId xmlns:a16="http://schemas.microsoft.com/office/drawing/2014/main" val="1868613072"/>
                    </a:ext>
                  </a:extLst>
                </a:gridCol>
                <a:gridCol w="1562340">
                  <a:extLst>
                    <a:ext uri="{9D8B030D-6E8A-4147-A177-3AD203B41FA5}">
                      <a16:colId xmlns:a16="http://schemas.microsoft.com/office/drawing/2014/main" val="2769057734"/>
                    </a:ext>
                  </a:extLst>
                </a:gridCol>
              </a:tblGrid>
              <a:tr h="60231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Model</a:t>
                      </a:r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Accuracy</a:t>
                      </a:r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F1 Scores</a:t>
                      </a:r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654784"/>
                  </a:ext>
                </a:extLst>
              </a:tr>
              <a:tr h="567283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sng"/>
                        <a:t>Voting Classifier</a:t>
                      </a:r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sng"/>
                        <a:t>0.8166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sng"/>
                        <a:t>0.82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885412"/>
                  </a:ext>
                </a:extLst>
              </a:tr>
              <a:tr h="567283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u="none"/>
                        <a:t>Balanced RF</a:t>
                      </a:r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u="none"/>
                        <a:t>0.8152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u="none"/>
                        <a:t>0.82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5299"/>
                  </a:ext>
                </a:extLst>
              </a:tr>
              <a:tr h="567283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err="1"/>
                        <a:t>XGBoost</a:t>
                      </a:r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/>
                        <a:t>0.8122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/>
                        <a:t>0.81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399484"/>
                  </a:ext>
                </a:extLst>
              </a:tr>
            </a:tbl>
          </a:graphicData>
        </a:graphic>
      </p:graphicFrame>
      <p:pic>
        <p:nvPicPr>
          <p:cNvPr id="5" name="Graphic 3" descr="A robot with a raised arm">
            <a:extLst>
              <a:ext uri="{FF2B5EF4-FFF2-40B4-BE49-F238E27FC236}">
                <a16:creationId xmlns:a16="http://schemas.microsoft.com/office/drawing/2014/main" id="{F9AE234E-7F6E-950A-7959-BAE21CCFB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23054" y="4560794"/>
            <a:ext cx="2655795" cy="25549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4C26B6-C8D7-DA7F-4273-3FB6FB20134B}"/>
              </a:ext>
            </a:extLst>
          </p:cNvPr>
          <p:cNvSpPr txBox="1"/>
          <p:nvPr/>
        </p:nvSpPr>
        <p:spPr>
          <a:xfrm>
            <a:off x="5722590" y="2016244"/>
            <a:ext cx="5712887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 All three models achieved strong performance, with accuracy and F1 scores around 81%.</a:t>
            </a:r>
            <a:br>
              <a:rPr lang="en-US" sz="2000">
                <a:ea typeface="+mn-lt"/>
                <a:cs typeface="+mn-lt"/>
              </a:rPr>
            </a:br>
            <a:endParaRPr lang="en-US" sz="20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>
                <a:ea typeface="+mn-lt"/>
                <a:cs typeface="+mn-lt"/>
              </a:rPr>
              <a:t>Voting Classifier stood out with the highest accuracy (81.66%) and balanced performance across both classes.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655AF7-9E72-83EA-F6AC-77E6059C6D9D}"/>
              </a:ext>
            </a:extLst>
          </p:cNvPr>
          <p:cNvSpPr txBox="1"/>
          <p:nvPr/>
        </p:nvSpPr>
        <p:spPr>
          <a:xfrm>
            <a:off x="735106" y="4825252"/>
            <a:ext cx="7404847" cy="1015663"/>
          </a:xfrm>
          <a:prstGeom prst="rect">
            <a:avLst/>
          </a:prstGeom>
          <a:solidFill>
            <a:srgbClr val="EFF4F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000000"/>
                </a:solidFill>
                <a:ea typeface="+mn-lt"/>
                <a:cs typeface="+mn-lt"/>
              </a:rPr>
              <a:t>Voting Classifier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, powered by a blend of multiple models and trained with SMOTE, proved 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to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be 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the most reliable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and best-performing </a:t>
            </a:r>
            <a:r>
              <a:rPr lang="en-US" sz="20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model for predicting track popularity.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74931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04289-85D6-4CE8-A994-62A386762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3748DF-600B-2BBC-BADD-1F4A8AEC5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E259A6C-B151-635C-93EF-5942FACBF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82" y="231882"/>
            <a:ext cx="11690960" cy="585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5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9F8A0-0363-6E79-528F-3EBFC065F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3929C-2136-BFF4-BB34-33F8614D4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91" y="131797"/>
            <a:ext cx="11024275" cy="2033427"/>
          </a:xfrm>
        </p:spPr>
        <p:txBody>
          <a:bodyPr/>
          <a:lstStyle/>
          <a:p>
            <a:pPr algn="ctr"/>
            <a:r>
              <a:rPr lang="en-US"/>
              <a:t>CONFUSION</a:t>
            </a:r>
            <a:r>
              <a:rPr lang="en-US" cap="none">
                <a:ea typeface="+mj-lt"/>
                <a:cs typeface="+mj-lt"/>
              </a:rPr>
              <a:t> </a:t>
            </a:r>
            <a:r>
              <a:rPr lang="en-US">
                <a:ea typeface="+mj-lt"/>
                <a:cs typeface="+mj-lt"/>
              </a:rPr>
              <a:t>matrix breakdown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761D1-6D2F-85B0-5015-E01895085CD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6005" y="982451"/>
            <a:ext cx="6623111" cy="47516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i="1" noProof="1">
                <a:latin typeface="Sabon Next LT"/>
                <a:ea typeface="+mn-lt"/>
                <a:cs typeface="Sabon Next LT"/>
              </a:rPr>
              <a:t>Confusion Matrix Breakdown of all the 3 models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5A807F-73DB-69F8-7C65-2ACD2C517E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F7B108-F377-E229-93CB-8473B9D5E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074813"/>
              </p:ext>
            </p:extLst>
          </p:nvPr>
        </p:nvGraphicFramePr>
        <p:xfrm>
          <a:off x="481852" y="1591235"/>
          <a:ext cx="5905338" cy="2983836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125681">
                  <a:extLst>
                    <a:ext uri="{9D8B030D-6E8A-4147-A177-3AD203B41FA5}">
                      <a16:colId xmlns:a16="http://schemas.microsoft.com/office/drawing/2014/main" val="1424710486"/>
                    </a:ext>
                  </a:extLst>
                </a:gridCol>
                <a:gridCol w="1107089">
                  <a:extLst>
                    <a:ext uri="{9D8B030D-6E8A-4147-A177-3AD203B41FA5}">
                      <a16:colId xmlns:a16="http://schemas.microsoft.com/office/drawing/2014/main" val="1868613072"/>
                    </a:ext>
                  </a:extLst>
                </a:gridCol>
                <a:gridCol w="1203055">
                  <a:extLst>
                    <a:ext uri="{9D8B030D-6E8A-4147-A177-3AD203B41FA5}">
                      <a16:colId xmlns:a16="http://schemas.microsoft.com/office/drawing/2014/main" val="456714843"/>
                    </a:ext>
                  </a:extLst>
                </a:gridCol>
                <a:gridCol w="1253186">
                  <a:extLst>
                    <a:ext uri="{9D8B030D-6E8A-4147-A177-3AD203B41FA5}">
                      <a16:colId xmlns:a16="http://schemas.microsoft.com/office/drawing/2014/main" val="1297085054"/>
                    </a:ext>
                  </a:extLst>
                </a:gridCol>
                <a:gridCol w="1216327">
                  <a:extLst>
                    <a:ext uri="{9D8B030D-6E8A-4147-A177-3AD203B41FA5}">
                      <a16:colId xmlns:a16="http://schemas.microsoft.com/office/drawing/2014/main" val="3460400067"/>
                    </a:ext>
                  </a:extLst>
                </a:gridCol>
              </a:tblGrid>
              <a:tr h="92798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Model</a:t>
                      </a:r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True Positives</a:t>
                      </a:r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True Negatives</a:t>
                      </a:r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/>
                        <a:t>False Positives </a:t>
                      </a:r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/>
                        <a:t>False Negatives</a:t>
                      </a:r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654784"/>
                  </a:ext>
                </a:extLst>
              </a:tr>
              <a:tr h="685283">
                <a:tc>
                  <a:txBody>
                    <a:bodyPr/>
                    <a:lstStyle/>
                    <a:p>
                      <a:r>
                        <a:rPr lang="en-US" sz="1600" b="1" u="sng"/>
                        <a:t>Voting Classifier</a:t>
                      </a:r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u="sng"/>
                        <a:t>6,873</a:t>
                      </a:r>
                      <a:endParaRPr lang="en-US" b="1" u="sng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u="sng"/>
                        <a:t>6,413</a:t>
                      </a:r>
                      <a:endParaRPr lang="en-US" b="1" u="sng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u="sng"/>
                        <a:t>1,465</a:t>
                      </a:r>
                      <a:endParaRPr lang="en-US" b="1" u="sng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u="sng"/>
                        <a:t>1,518</a:t>
                      </a:r>
                      <a:endParaRPr lang="en-US" b="1" u="sng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885412"/>
                  </a:ext>
                </a:extLst>
              </a:tr>
              <a:tr h="685283">
                <a:tc>
                  <a:txBody>
                    <a:bodyPr/>
                    <a:lstStyle/>
                    <a:p>
                      <a:r>
                        <a:rPr lang="en-US" sz="1600" b="0" u="none"/>
                        <a:t>Balanced RF</a:t>
                      </a:r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u="none"/>
                        <a:t>6,876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u="none"/>
                        <a:t>6,387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u="none"/>
                        <a:t>1,462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u="none"/>
                        <a:t>1,544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5299"/>
                  </a:ext>
                </a:extLst>
              </a:tr>
              <a:tr h="685283">
                <a:tc>
                  <a:txBody>
                    <a:bodyPr/>
                    <a:lstStyle/>
                    <a:p>
                      <a:r>
                        <a:rPr lang="en-US" sz="1600" b="0" err="1"/>
                        <a:t>XGBoost</a:t>
                      </a:r>
                      <a:endParaRPr lang="en-US" sz="1600" b="0"/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6,890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6,323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1,448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1,608</a:t>
                      </a:r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399484"/>
                  </a:ext>
                </a:extLst>
              </a:tr>
            </a:tbl>
          </a:graphicData>
        </a:graphic>
      </p:graphicFrame>
      <p:pic>
        <p:nvPicPr>
          <p:cNvPr id="5" name="Graphic 4" descr="Four test tubes in a row, partly filled with liquid">
            <a:extLst>
              <a:ext uri="{FF2B5EF4-FFF2-40B4-BE49-F238E27FC236}">
                <a16:creationId xmlns:a16="http://schemas.microsoft.com/office/drawing/2014/main" id="{6888A935-E2F4-06F8-4072-377533063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19029" y="3720353"/>
            <a:ext cx="3204883" cy="31376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239457-1AE7-9DE1-8FCB-ABBBF4807736}"/>
              </a:ext>
            </a:extLst>
          </p:cNvPr>
          <p:cNvSpPr txBox="1"/>
          <p:nvPr/>
        </p:nvSpPr>
        <p:spPr>
          <a:xfrm>
            <a:off x="6720957" y="1149161"/>
            <a:ext cx="4634740" cy="28315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Voting Classifier correctly predicted the most tracks overall, with the highest combined True Positives and True Negatives.</a:t>
            </a:r>
            <a:br>
              <a:rPr lang="en-US" sz="2000">
                <a:ea typeface="+mn-lt"/>
                <a:cs typeface="+mn-lt"/>
              </a:rPr>
            </a:b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Although </a:t>
            </a:r>
            <a:r>
              <a:rPr lang="en-US" sz="2000" err="1">
                <a:ea typeface="+mn-lt"/>
                <a:cs typeface="+mn-lt"/>
              </a:rPr>
              <a:t>XGBoost</a:t>
            </a:r>
            <a:r>
              <a:rPr lang="en-US" sz="2000">
                <a:ea typeface="+mn-lt"/>
                <a:cs typeface="+mn-lt"/>
              </a:rPr>
              <a:t> predicted the most popular songs (TP = 6,890), it also had the highest number of False Negatives.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54A7EB-979B-81C6-BAAF-C2177EEA96D8}"/>
              </a:ext>
            </a:extLst>
          </p:cNvPr>
          <p:cNvSpPr txBox="1"/>
          <p:nvPr/>
        </p:nvSpPr>
        <p:spPr>
          <a:xfrm>
            <a:off x="488577" y="4701989"/>
            <a:ext cx="5611905" cy="711670"/>
          </a:xfrm>
          <a:prstGeom prst="rect">
            <a:avLst/>
          </a:prstGeom>
          <a:solidFill>
            <a:srgbClr val="EFF4F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632"/>
              </a:lnSpc>
            </a:pPr>
            <a:r>
              <a:rPr lang="en-US">
                <a:ea typeface="+mn-lt"/>
                <a:cs typeface="+mn-lt"/>
              </a:rPr>
              <a:t>These results show that all models performed well, but </a:t>
            </a:r>
            <a:r>
              <a:rPr lang="en-US" b="1">
                <a:ea typeface="+mn-lt"/>
                <a:cs typeface="+mn-lt"/>
              </a:rPr>
              <a:t>Voting Classifier </a:t>
            </a:r>
            <a:r>
              <a:rPr lang="en-US">
                <a:ea typeface="+mn-lt"/>
                <a:cs typeface="+mn-lt"/>
              </a:rPr>
              <a:t>balanced precision and generalization best, making the fewest overall mistakes.</a:t>
            </a:r>
          </a:p>
        </p:txBody>
      </p:sp>
    </p:spTree>
    <p:extLst>
      <p:ext uri="{BB962C8B-B14F-4D97-AF65-F5344CB8AC3E}">
        <p14:creationId xmlns:p14="http://schemas.microsoft.com/office/powerpoint/2010/main" val="4163281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A1670-B765-435F-12B8-6F60CDB5A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F7B4AD-BB2F-75D7-9BA4-FB9D54E7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br>
              <a:rPr lang="en-US" sz="4000"/>
            </a:br>
            <a:r>
              <a:rPr lang="en-US" sz="4000"/>
              <a:t>WHAT IS ROC &amp; AUC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218BB-79FC-89D7-ADE2-EF807F551A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696186" y="2221992"/>
            <a:ext cx="4800600" cy="373989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noProof="1"/>
              <a:t>ROC (Receiver Operating Characteristic) Curve</a:t>
            </a:r>
            <a:r>
              <a:rPr lang="en-US" noProof="1"/>
              <a:t> shows how well a model distinguishes between classes by plotting the True Positive Rate (TPR) against the False Positive Rate (FPR) at various threshold levels.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 b="1"/>
              <a:t>AUC (Area Under the Curve)</a:t>
            </a:r>
            <a:r>
              <a:rPr lang="en-US"/>
              <a:t> measures the </a:t>
            </a:r>
            <a:r>
              <a:rPr lang="en-US" b="1"/>
              <a:t>overall performance</a:t>
            </a:r>
            <a:r>
              <a:rPr lang="en-US"/>
              <a:t> of the model.</a:t>
            </a:r>
          </a:p>
          <a:p>
            <a:pPr>
              <a:lnSpc>
                <a:spcPct val="100000"/>
              </a:lnSpc>
            </a:pPr>
            <a:r>
              <a:rPr lang="en-US"/>
              <a:t>AUC = 1.0 means perfect prediction</a:t>
            </a:r>
          </a:p>
          <a:p>
            <a:pPr>
              <a:lnSpc>
                <a:spcPct val="100000"/>
              </a:lnSpc>
            </a:pPr>
            <a:r>
              <a:rPr lang="en-US"/>
              <a:t>AUC = 0.5 means random guessing</a:t>
            </a:r>
          </a:p>
          <a:p>
            <a:pPr>
              <a:lnSpc>
                <a:spcPct val="100000"/>
              </a:lnSpc>
            </a:pPr>
            <a:r>
              <a:rPr lang="en-US"/>
              <a:t>Higher AUC = better model performance</a:t>
            </a:r>
            <a:br>
              <a:rPr lang="en-US"/>
            </a:b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4B43C7-E763-AB97-FF80-B571EA49A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3DB2ADC-AF19-4574-8C10-79B5B04FCA2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23</a:t>
            </a:fld>
            <a:endParaRPr lang="en-US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E8DF2E-C58C-F6C1-EBDE-06BAE1066A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03" r="11249"/>
          <a:stretch/>
        </p:blipFill>
        <p:spPr>
          <a:xfrm>
            <a:off x="511757" y="1233681"/>
            <a:ext cx="5584243" cy="501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898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2983E-C5B2-210C-0AFD-1BBB43151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3EDBC-0713-98C5-A5E9-CBC7114E7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91" y="237409"/>
            <a:ext cx="11034713" cy="1927815"/>
          </a:xfrm>
        </p:spPr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ROC-AUC COMPARISON</a:t>
            </a:r>
            <a:br>
              <a:rPr lang="en-US">
                <a:ea typeface="+mj-lt"/>
                <a:cs typeface="+mj-lt"/>
              </a:rPr>
            </a:b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ACF7D0-1C28-5100-FC9E-CF37D4BE9F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1475" y="1710834"/>
            <a:ext cx="6118847" cy="6208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i="1" noProof="1">
                <a:latin typeface="Sabon Next LT"/>
                <a:ea typeface="+mn-lt"/>
                <a:cs typeface="Sabon Next LT"/>
              </a:rPr>
              <a:t>Confusion Matrix Breakdown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69CA74-6144-EF20-BF5B-B58FDDC3F8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F4FAB2-DEF6-EB18-5292-0FC95897FE8C}"/>
              </a:ext>
            </a:extLst>
          </p:cNvPr>
          <p:cNvSpPr txBox="1"/>
          <p:nvPr/>
        </p:nvSpPr>
        <p:spPr>
          <a:xfrm>
            <a:off x="8344545" y="1064069"/>
            <a:ext cx="3206209" cy="3046988"/>
          </a:xfrm>
          <a:prstGeom prst="rect">
            <a:avLst/>
          </a:prstGeom>
          <a:solidFill>
            <a:srgbClr val="EFF4F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Voting Classifier and </a:t>
            </a:r>
            <a:r>
              <a:rPr lang="en-US" sz="2400" b="1" err="1">
                <a:ea typeface="+mn-lt"/>
                <a:cs typeface="+mn-lt"/>
              </a:rPr>
              <a:t>XGBoost</a:t>
            </a:r>
            <a:r>
              <a:rPr lang="en-US" sz="2400">
                <a:ea typeface="+mn-lt"/>
                <a:cs typeface="+mn-lt"/>
              </a:rPr>
              <a:t> both achieved the highest AUC of </a:t>
            </a:r>
            <a:r>
              <a:rPr lang="en-US" sz="2400" b="1">
                <a:ea typeface="+mn-lt"/>
                <a:cs typeface="+mn-lt"/>
              </a:rPr>
              <a:t>0.90</a:t>
            </a:r>
            <a:r>
              <a:rPr lang="en-US" sz="2400">
                <a:ea typeface="+mn-lt"/>
                <a:cs typeface="+mn-lt"/>
              </a:rPr>
              <a:t>, demonstrating strong ability to distinguish between popular and non-popular tracks.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0BB7EB-1190-C61B-0B04-0D2A5BF74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91" y="779089"/>
            <a:ext cx="7929282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52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A9CE5D-BF8D-FCC6-958F-A660CB658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3DE379-2545-EEF8-7539-ED69C97AE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8280" y="-283841"/>
            <a:ext cx="6373915" cy="157775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br>
              <a:rPr lang="en-US" sz="3400"/>
            </a:br>
            <a:r>
              <a:rPr lang="en-US" sz="3400"/>
              <a:t>Best Model and Conclusion</a:t>
            </a:r>
          </a:p>
        </p:txBody>
      </p:sp>
      <p:pic>
        <p:nvPicPr>
          <p:cNvPr id="7" name="Picture 6" descr="Pen placed on top of a signature line">
            <a:extLst>
              <a:ext uri="{FF2B5EF4-FFF2-40B4-BE49-F238E27FC236}">
                <a16:creationId xmlns:a16="http://schemas.microsoft.com/office/drawing/2014/main" id="{FB89DE89-42E7-1D11-E418-4D94678C6E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322" r="1355" b="-4"/>
          <a:stretch/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3B1E03-5B4E-FB17-E4B6-C0933096F7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06733" y="778101"/>
            <a:ext cx="5828008" cy="5951696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/>
            <a:endParaRPr lang="en-US" sz="2000" i="1" noProof="1"/>
          </a:p>
          <a:p>
            <a:pPr>
              <a:buNone/>
            </a:pPr>
            <a:r>
              <a:rPr lang="en-US" sz="2000" b="1" noProof="1">
                <a:ea typeface="+mn-lt"/>
                <a:cs typeface="+mn-lt"/>
              </a:rPr>
              <a:t>Key Takeaways: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 noProof="1">
                <a:ea typeface="+mn-lt"/>
                <a:cs typeface="+mn-lt"/>
              </a:rPr>
              <a:t>All three models (</a:t>
            </a:r>
            <a:r>
              <a:rPr lang="en-US" sz="2000" b="1" noProof="1">
                <a:ea typeface="+mn-lt"/>
                <a:cs typeface="+mn-lt"/>
              </a:rPr>
              <a:t>XGBoost, Voting Classifier, Balanced RF</a:t>
            </a:r>
            <a:r>
              <a:rPr lang="en-US" sz="2000" noProof="1">
                <a:ea typeface="+mn-lt"/>
                <a:cs typeface="+mn-lt"/>
              </a:rPr>
              <a:t>) performed well on the Spotify dataset after applying SMOTE to address class imbalance.</a:t>
            </a:r>
            <a:endParaRPr lang="en-US" sz="20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noProof="1">
                <a:ea typeface="+mn-lt"/>
                <a:cs typeface="+mn-lt"/>
              </a:rPr>
              <a:t>Models were evaluated using </a:t>
            </a:r>
            <a:r>
              <a:rPr lang="en-US" sz="2000" b="1" noProof="1">
                <a:ea typeface="+mn-lt"/>
                <a:cs typeface="+mn-lt"/>
              </a:rPr>
              <a:t>Accuracy, F1 Score, Precision, Recall, and AUC Score</a:t>
            </a:r>
            <a:r>
              <a:rPr lang="en-US" sz="2000" noProof="1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noProof="1">
                <a:ea typeface="+mn-lt"/>
                <a:cs typeface="+mn-lt"/>
              </a:rPr>
              <a:t>These models can help Spotify recommend underrated tracks by effectively predicting popularity—even when the data is imbalanced.</a:t>
            </a:r>
            <a:endParaRPr lang="en-US">
              <a:ea typeface="+mn-lt"/>
              <a:cs typeface="+mn-lt"/>
            </a:endParaRPr>
          </a:p>
          <a:p>
            <a:pPr indent="0">
              <a:buNone/>
            </a:pPr>
            <a:endParaRPr lang="en-US"/>
          </a:p>
          <a:p>
            <a:pPr>
              <a:buNone/>
            </a:pPr>
            <a:r>
              <a:rPr lang="en-US" sz="2000" b="1" noProof="1">
                <a:ea typeface="+mn-lt"/>
                <a:cs typeface="+mn-lt"/>
              </a:rPr>
              <a:t>🏆 Best Performing Model: </a:t>
            </a:r>
            <a:r>
              <a:rPr lang="en-US" sz="2000" b="1" i="1" noProof="1">
                <a:solidFill>
                  <a:srgbClr val="00911F"/>
                </a:solidFill>
                <a:ea typeface="+mn-lt"/>
                <a:cs typeface="+mn-lt"/>
              </a:rPr>
              <a:t>Voting Classifier (SMOTE)</a:t>
            </a:r>
            <a:endParaRPr lang="en-US" sz="2000">
              <a:solidFill>
                <a:srgbClr val="00911F"/>
              </a:solidFill>
            </a:endParaRPr>
          </a:p>
          <a:p>
            <a:pPr>
              <a:buFont typeface="Arial"/>
              <a:buChar char="•"/>
            </a:pPr>
            <a:r>
              <a:rPr lang="en-US" sz="2000" b="1" noProof="1">
                <a:ea typeface="+mn-lt"/>
                <a:cs typeface="+mn-lt"/>
              </a:rPr>
              <a:t>Highest Accuracy:</a:t>
            </a:r>
            <a:r>
              <a:rPr lang="en-US" sz="2000" noProof="1">
                <a:ea typeface="+mn-lt"/>
                <a:cs typeface="+mn-lt"/>
              </a:rPr>
              <a:t> 81.66%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 b="1" noProof="1">
                <a:ea typeface="+mn-lt"/>
                <a:cs typeface="+mn-lt"/>
              </a:rPr>
              <a:t>Best F1 Score:</a:t>
            </a:r>
            <a:r>
              <a:rPr lang="en-US" sz="2000" noProof="1">
                <a:ea typeface="+mn-lt"/>
                <a:cs typeface="+mn-lt"/>
              </a:rPr>
              <a:t> 81.66% — strong balance between precision and recall</a:t>
            </a:r>
            <a:endParaRPr lang="en-US"/>
          </a:p>
          <a:p>
            <a:pPr>
              <a:buFont typeface="Arial"/>
              <a:buChar char="•"/>
            </a:pPr>
            <a:r>
              <a:rPr lang="en-US" sz="2000" b="1" noProof="1">
                <a:ea typeface="+mn-lt"/>
                <a:cs typeface="+mn-lt"/>
              </a:rPr>
              <a:t>AUC Score:</a:t>
            </a:r>
            <a:r>
              <a:rPr lang="en-US" sz="2000" noProof="1">
                <a:ea typeface="+mn-lt"/>
                <a:cs typeface="+mn-lt"/>
              </a:rPr>
              <a:t> 0.90 — excellent at distinguishing popular vs. non-popular tracks</a:t>
            </a:r>
            <a:endParaRPr lang="en-US"/>
          </a:p>
          <a:p>
            <a:pPr>
              <a:buFont typeface="Arial"/>
              <a:buChar char="•"/>
            </a:pPr>
            <a:r>
              <a:rPr lang="en-US" sz="2000" b="1" noProof="1">
                <a:ea typeface="+mn-lt"/>
                <a:cs typeface="+mn-lt"/>
              </a:rPr>
              <a:t>Made the fewest total classification errors</a:t>
            </a:r>
            <a:r>
              <a:rPr lang="en-US" sz="2000" noProof="1">
                <a:ea typeface="+mn-lt"/>
                <a:cs typeface="+mn-lt"/>
              </a:rPr>
              <a:t>, showing consistent and reliable performance. 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F56DFC-BE85-0025-13EE-F1DFA6D8A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3DB2ADC-AF19-4574-8C10-79B5B04FCA2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25</a:t>
            </a:fld>
            <a:endParaRPr lang="en-US" sz="1800"/>
          </a:p>
        </p:txBody>
      </p:sp>
      <p:pic>
        <p:nvPicPr>
          <p:cNvPr id="11" name="Graphic 10" descr="A trophy cup">
            <a:extLst>
              <a:ext uri="{FF2B5EF4-FFF2-40B4-BE49-F238E27FC236}">
                <a16:creationId xmlns:a16="http://schemas.microsoft.com/office/drawing/2014/main" id="{BEC7E073-7771-B766-0F2E-32F54A8422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1933" y="3593123"/>
            <a:ext cx="1385279" cy="148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72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5EF853-2181-AA79-E9CF-B7A5B236F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4041648" cy="1928741"/>
          </a:xfrm>
        </p:spPr>
        <p:txBody>
          <a:bodyPr>
            <a:normAutofit/>
          </a:bodyPr>
          <a:lstStyle/>
          <a:p>
            <a:r>
              <a:rPr lang="en-US"/>
              <a:t>Tools and Resources used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raphic 32" descr="Programmer">
            <a:extLst>
              <a:ext uri="{FF2B5EF4-FFF2-40B4-BE49-F238E27FC236}">
                <a16:creationId xmlns:a16="http://schemas.microsoft.com/office/drawing/2014/main" id="{E4B971DA-3CEE-2CE6-3F07-5976FB36B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111" y="3046576"/>
            <a:ext cx="2969276" cy="2969276"/>
          </a:xfrm>
          <a:prstGeom prst="rect">
            <a:avLst/>
          </a:prstGeom>
        </p:spPr>
      </p:pic>
      <p:sp>
        <p:nvSpPr>
          <p:cNvPr id="22" name="Content Placeholder 11">
            <a:extLst>
              <a:ext uri="{FF2B5EF4-FFF2-40B4-BE49-F238E27FC236}">
                <a16:creationId xmlns:a16="http://schemas.microsoft.com/office/drawing/2014/main" id="{BCBDDC89-99FE-B108-CB4B-E73591FA2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1774" y="905748"/>
            <a:ext cx="7480878" cy="181677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/>
              <a:t>Programming &amp; Analysis</a:t>
            </a:r>
            <a:endParaRPr lang="en-US" sz="1400"/>
          </a:p>
          <a:p>
            <a:pPr>
              <a:lnSpc>
                <a:spcPct val="100000"/>
              </a:lnSpc>
            </a:pPr>
            <a:r>
              <a:rPr lang="en-US" sz="1400" b="1">
                <a:ea typeface="+mn-lt"/>
                <a:cs typeface="+mn-lt"/>
              </a:rPr>
              <a:t>Python</a:t>
            </a:r>
            <a:r>
              <a:rPr lang="en-US" sz="1400">
                <a:ea typeface="+mn-lt"/>
                <a:cs typeface="+mn-lt"/>
              </a:rPr>
              <a:t> – Core language for data processing and modeling</a:t>
            </a:r>
            <a:endParaRPr lang="en-US" sz="1400"/>
          </a:p>
          <a:p>
            <a:pPr>
              <a:lnSpc>
                <a:spcPct val="100000"/>
              </a:lnSpc>
            </a:pPr>
            <a:r>
              <a:rPr lang="en-US" sz="1400" b="1" err="1">
                <a:ea typeface="+mn-lt"/>
                <a:cs typeface="+mn-lt"/>
              </a:rPr>
              <a:t>Jupyter</a:t>
            </a:r>
            <a:r>
              <a:rPr lang="en-US" sz="1400" b="1">
                <a:ea typeface="+mn-lt"/>
                <a:cs typeface="+mn-lt"/>
              </a:rPr>
              <a:t> Notebook (Anaconda)</a:t>
            </a:r>
            <a:r>
              <a:rPr lang="en-US" sz="1400">
                <a:ea typeface="+mn-lt"/>
                <a:cs typeface="+mn-lt"/>
              </a:rPr>
              <a:t> – Local environment for developing and testing code</a:t>
            </a:r>
            <a:endParaRPr lang="en-US" sz="1400"/>
          </a:p>
          <a:p>
            <a:pPr>
              <a:lnSpc>
                <a:spcPct val="100000"/>
              </a:lnSpc>
            </a:pPr>
            <a:r>
              <a:rPr lang="en-US" sz="1400" b="1">
                <a:ea typeface="+mn-lt"/>
                <a:cs typeface="+mn-lt"/>
              </a:rPr>
              <a:t>Google </a:t>
            </a:r>
            <a:r>
              <a:rPr lang="en-US" sz="1400" b="1" err="1">
                <a:ea typeface="+mn-lt"/>
                <a:cs typeface="+mn-lt"/>
              </a:rPr>
              <a:t>Colab</a:t>
            </a:r>
            <a:r>
              <a:rPr lang="en-US" sz="1400">
                <a:ea typeface="+mn-lt"/>
                <a:cs typeface="+mn-lt"/>
              </a:rPr>
              <a:t> – Cloud platform with GPU/TPU for training models with SMOTE</a:t>
            </a:r>
            <a:br>
              <a:rPr lang="en-US" sz="1400"/>
            </a:br>
            <a:endParaRPr 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/>
              <a:t>Data Handling &amp; Visualization</a:t>
            </a:r>
            <a:endParaRPr lang="en-US" sz="1400"/>
          </a:p>
          <a:p>
            <a:pPr>
              <a:lnSpc>
                <a:spcPct val="100000"/>
              </a:lnSpc>
            </a:pPr>
            <a:r>
              <a:rPr lang="en-US" sz="1400" b="1">
                <a:ea typeface="+mn-lt"/>
                <a:cs typeface="+mn-lt"/>
              </a:rPr>
              <a:t>Microsoft Excel</a:t>
            </a:r>
            <a:r>
              <a:rPr lang="en-US" sz="1400">
                <a:ea typeface="+mn-lt"/>
                <a:cs typeface="+mn-lt"/>
              </a:rPr>
              <a:t> – Early data inspection and filtering</a:t>
            </a:r>
            <a:endParaRPr lang="en-US" sz="1400"/>
          </a:p>
          <a:p>
            <a:pPr>
              <a:lnSpc>
                <a:spcPct val="100000"/>
              </a:lnSpc>
            </a:pPr>
            <a:r>
              <a:rPr lang="en-US" sz="1400" b="1">
                <a:ea typeface="+mn-lt"/>
                <a:cs typeface="+mn-lt"/>
              </a:rPr>
              <a:t>Pandas, NumPy</a:t>
            </a:r>
            <a:r>
              <a:rPr lang="en-US" sz="1400">
                <a:ea typeface="+mn-lt"/>
                <a:cs typeface="+mn-lt"/>
              </a:rPr>
              <a:t> – Data cleaning, transformation, and feature engineering</a:t>
            </a:r>
            <a:endParaRPr lang="en-US" sz="1400"/>
          </a:p>
          <a:p>
            <a:pPr>
              <a:lnSpc>
                <a:spcPct val="100000"/>
              </a:lnSpc>
            </a:pPr>
            <a:r>
              <a:rPr lang="en-US" sz="1400" b="1">
                <a:ea typeface="+mn-lt"/>
                <a:cs typeface="+mn-lt"/>
              </a:rPr>
              <a:t>Matplotlib, Seaborn</a:t>
            </a:r>
            <a:r>
              <a:rPr lang="en-US" sz="1400">
                <a:ea typeface="+mn-lt"/>
                <a:cs typeface="+mn-lt"/>
              </a:rPr>
              <a:t> – Visualization of trends, model performance, and EDA</a:t>
            </a:r>
            <a:endParaRPr lang="en-US" sz="1400"/>
          </a:p>
          <a:p>
            <a:pPr>
              <a:lnSpc>
                <a:spcPct val="100000"/>
              </a:lnSpc>
            </a:pPr>
            <a:endParaRPr lang="en-US" sz="1400"/>
          </a:p>
          <a:p>
            <a:pPr marL="0" indent="0">
              <a:lnSpc>
                <a:spcPct val="100000"/>
              </a:lnSpc>
              <a:buNone/>
            </a:pPr>
            <a:endParaRPr lang="en-US" sz="1400" b="1"/>
          </a:p>
          <a:p>
            <a:pPr>
              <a:lnSpc>
                <a:spcPct val="100000"/>
              </a:lnSpc>
            </a:pPr>
            <a:endParaRPr lang="en-US" sz="1400"/>
          </a:p>
          <a:p>
            <a:pPr>
              <a:lnSpc>
                <a:spcPct val="100000"/>
              </a:lnSpc>
            </a:pPr>
            <a:endParaRPr lang="en-US" sz="140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953B3-5846-D7AB-D0A3-F1A4D43B6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3DB2ADC-AF19-4574-8C10-79B5B04FCA27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AD27D-5C29-1676-62DB-020ED9A8ABC5}"/>
              </a:ext>
            </a:extLst>
          </p:cNvPr>
          <p:cNvSpPr txBox="1"/>
          <p:nvPr/>
        </p:nvSpPr>
        <p:spPr>
          <a:xfrm>
            <a:off x="3931085" y="3774509"/>
            <a:ext cx="7659667" cy="35009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051"/>
              </a:lnSpc>
            </a:pPr>
            <a:br>
              <a:rPr lang="en-US" sz="1100">
                <a:cs typeface="Arial"/>
              </a:rPr>
            </a:br>
            <a:endParaRPr lang="en-US" sz="1400">
              <a:cs typeface="Arial"/>
            </a:endParaRPr>
          </a:p>
          <a:p>
            <a:pPr>
              <a:spcBef>
                <a:spcPts val="1000"/>
              </a:spcBef>
            </a:pPr>
            <a:r>
              <a:rPr lang="en-US" sz="1400" b="1">
                <a:cs typeface="Arial"/>
              </a:rPr>
              <a:t>Collaboration &amp; Submission</a:t>
            </a:r>
            <a:endParaRPr lang="en-US" sz="1400">
              <a:cs typeface="Arial"/>
            </a:endParaRP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1400" b="1">
                <a:cs typeface="Arial"/>
              </a:rPr>
              <a:t>OneDrive</a:t>
            </a:r>
            <a:r>
              <a:rPr lang="en-US" sz="1400">
                <a:cs typeface="Arial"/>
              </a:rPr>
              <a:t> – Shared folder for submitting final work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1400" b="1">
                <a:cs typeface="Arial"/>
              </a:rPr>
              <a:t>Kaggle</a:t>
            </a:r>
            <a:r>
              <a:rPr lang="en-US" sz="1400">
                <a:cs typeface="Arial"/>
              </a:rPr>
              <a:t> – Source for the Spotify dataset used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1400" b="1">
                <a:cs typeface="Arial"/>
              </a:rPr>
              <a:t>ChatGPT (OpenAI)</a:t>
            </a:r>
            <a:r>
              <a:rPr lang="en-US" sz="1400">
                <a:cs typeface="Arial"/>
              </a:rPr>
              <a:t> – Assisted with code debugging, correcting visualizations, and research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endParaRPr lang="en-US" sz="1400">
              <a:cs typeface="Arial"/>
            </a:endParaRP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endParaRPr lang="en-US" sz="1400">
              <a:cs typeface="Arial"/>
            </a:endParaRPr>
          </a:p>
          <a:p>
            <a:pPr>
              <a:lnSpc>
                <a:spcPts val="1051"/>
              </a:lnSpc>
            </a:pPr>
            <a:endParaRPr lang="en-US" sz="1400">
              <a:cs typeface="Arial"/>
            </a:endParaRPr>
          </a:p>
          <a:p>
            <a:pPr marL="228600" indent="-228600">
              <a:buFont typeface=""/>
              <a:buChar char="•"/>
            </a:pPr>
            <a:endParaRPr lang="en-US" sz="2000">
              <a:latin typeface="Arial"/>
              <a:cs typeface="Arial"/>
            </a:endParaRPr>
          </a:p>
          <a:p>
            <a:pPr marL="228600" indent="-228600">
              <a:buFont typeface=""/>
              <a:buChar char="•"/>
            </a:pPr>
            <a:endParaRPr lang="en-US" sz="2000">
              <a:latin typeface="Arial"/>
              <a:cs typeface="Arial"/>
            </a:endParaRP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82803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D122A0-581D-CF20-9833-DB3BFF267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0E52DF2-6802-459B-AC2A-AF976DEB1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7E5217-97A8-DBAA-C0A2-D2296919D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2184" y="2386295"/>
            <a:ext cx="3730839" cy="35691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ko-KR" sz="4000" b="1"/>
              <a:t>APPENDIX- Bonus GRAPHS AND ANALYSIS</a:t>
            </a:r>
          </a:p>
        </p:txBody>
      </p:sp>
      <p:pic>
        <p:nvPicPr>
          <p:cNvPr id="3" name="Picture 2" descr="Data Visualization: More Than Just Pretty Pictures">
            <a:extLst>
              <a:ext uri="{FF2B5EF4-FFF2-40B4-BE49-F238E27FC236}">
                <a16:creationId xmlns:a16="http://schemas.microsoft.com/office/drawing/2014/main" id="{8E0E0F92-3E08-0A0B-6D1E-93C7ADE24A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12" r="14842"/>
          <a:stretch/>
        </p:blipFill>
        <p:spPr>
          <a:xfrm>
            <a:off x="20" y="10"/>
            <a:ext cx="7320707" cy="6857985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153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811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656CA96-3B81-D670-3D3E-B372BCEFB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0BB49-4CE3-93FA-2987-12679FCDD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D5920F-9838-1A9D-AD9C-34BCDE7DA5FA}"/>
              </a:ext>
            </a:extLst>
          </p:cNvPr>
          <p:cNvSpPr txBox="1"/>
          <p:nvPr/>
        </p:nvSpPr>
        <p:spPr>
          <a:xfrm>
            <a:off x="853146" y="111280"/>
            <a:ext cx="80245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Univers Condensed"/>
              </a:rPr>
              <a:t>TRAINING DATA AND TEST DATA- Code</a:t>
            </a: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FBC473C-508B-36C7-0A9A-B2F23B89F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138" y="965809"/>
            <a:ext cx="5925724" cy="492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978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13BB3-426B-7BA9-04DB-4AC54A782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EACFC7-E6DF-A10E-DC8E-5EB54A6B8EE6}"/>
              </a:ext>
            </a:extLst>
          </p:cNvPr>
          <p:cNvSpPr txBox="1"/>
          <p:nvPr/>
        </p:nvSpPr>
        <p:spPr>
          <a:xfrm>
            <a:off x="853146" y="111280"/>
            <a:ext cx="80245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Univers Condensed"/>
              </a:rPr>
              <a:t>TRAINING DATA AND TEST DATA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651875-2C46-1C22-3E80-D84767D9E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68" y="1133231"/>
            <a:ext cx="5415219" cy="4591539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DA4EE4-F43B-D9D4-0908-1438CDD7B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840" y="1133231"/>
            <a:ext cx="5578883" cy="458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190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11538DF-13DD-3EFB-6334-0FB46048F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C7828-EFD2-BFB2-6744-F6C4128829A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1475" y="1710834"/>
            <a:ext cx="6118847" cy="6208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i="1" noProof="1">
                <a:latin typeface="Sabon Next LT"/>
                <a:ea typeface="+mn-lt"/>
                <a:cs typeface="Sabon Next LT"/>
              </a:rPr>
              <a:t>Accuracy &amp; F1 Score Comparison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D41CDF-709D-5AF5-4D19-1E1C56022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4B6FAF-B2E6-6589-3CC3-32F868648A88}"/>
              </a:ext>
            </a:extLst>
          </p:cNvPr>
          <p:cNvGraphicFramePr>
            <a:graphicFrameLocks noGrp="1"/>
          </p:cNvGraphicFramePr>
          <p:nvPr/>
        </p:nvGraphicFramePr>
        <p:xfrm>
          <a:off x="892256" y="2330548"/>
          <a:ext cx="10571229" cy="336615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951237">
                  <a:extLst>
                    <a:ext uri="{9D8B030D-6E8A-4147-A177-3AD203B41FA5}">
                      <a16:colId xmlns:a16="http://schemas.microsoft.com/office/drawing/2014/main" val="1424710486"/>
                    </a:ext>
                  </a:extLst>
                </a:gridCol>
                <a:gridCol w="3822094">
                  <a:extLst>
                    <a:ext uri="{9D8B030D-6E8A-4147-A177-3AD203B41FA5}">
                      <a16:colId xmlns:a16="http://schemas.microsoft.com/office/drawing/2014/main" val="1868613072"/>
                    </a:ext>
                  </a:extLst>
                </a:gridCol>
                <a:gridCol w="3797898">
                  <a:extLst>
                    <a:ext uri="{9D8B030D-6E8A-4147-A177-3AD203B41FA5}">
                      <a16:colId xmlns:a16="http://schemas.microsoft.com/office/drawing/2014/main" val="456714843"/>
                    </a:ext>
                  </a:extLst>
                </a:gridCol>
              </a:tblGrid>
              <a:tr h="56102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654784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885412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5299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399484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64810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908280"/>
                  </a:ext>
                </a:extLst>
              </a:tr>
            </a:tbl>
          </a:graphicData>
        </a:graphic>
      </p:graphicFrame>
      <p:pic>
        <p:nvPicPr>
          <p:cNvPr id="2" name="Picture 1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47A6F9D9-7135-12A9-ECBA-6104DADF2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56" y="768654"/>
            <a:ext cx="9891781" cy="52267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53018E-8E4B-4038-FB71-8C4209942371}"/>
              </a:ext>
            </a:extLst>
          </p:cNvPr>
          <p:cNvSpPr txBox="1"/>
          <p:nvPr/>
        </p:nvSpPr>
        <p:spPr>
          <a:xfrm>
            <a:off x="853146" y="111280"/>
            <a:ext cx="80245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Univers Condensed"/>
              </a:rPr>
              <a:t>TRAINING MODELS - Code</a:t>
            </a:r>
          </a:p>
        </p:txBody>
      </p:sp>
    </p:spTree>
    <p:extLst>
      <p:ext uri="{BB962C8B-B14F-4D97-AF65-F5344CB8AC3E}">
        <p14:creationId xmlns:p14="http://schemas.microsoft.com/office/powerpoint/2010/main" val="2394118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F68E7E-414A-BF6B-3F65-A864016A1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5BA22B-707D-0BC6-9525-81E67F2E2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013764-3E23-4C62-C2BA-BD3050AB32FF}"/>
              </a:ext>
            </a:extLst>
          </p:cNvPr>
          <p:cNvSpPr txBox="1"/>
          <p:nvPr/>
        </p:nvSpPr>
        <p:spPr>
          <a:xfrm>
            <a:off x="853146" y="111280"/>
            <a:ext cx="80245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Univers Condensed"/>
              </a:rPr>
              <a:t>Voting Classifier with SMOTE &amp; Results</a:t>
            </a:r>
          </a:p>
        </p:txBody>
      </p:sp>
      <p:pic>
        <p:nvPicPr>
          <p:cNvPr id="5" name="Picture 4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847A2E1E-0FD9-58AA-9850-072CCD77C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50" y="777332"/>
            <a:ext cx="9615560" cy="557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516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B56713D-E5E5-2B2B-2931-A695C90CC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A0FA2-3DBB-44D1-D76D-8B7E7E4FB3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1475" y="1710834"/>
            <a:ext cx="6118847" cy="6208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i="1" noProof="1">
                <a:latin typeface="Sabon Next LT"/>
                <a:ea typeface="+mn-lt"/>
                <a:cs typeface="Sabon Next LT"/>
              </a:rPr>
              <a:t>Accuracy &amp; F1 Score Comparison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FBA240-1C6E-1292-75E9-1C0CAF4B85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32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95ACA0-0A80-4C14-1CBF-680E4E35130C}"/>
              </a:ext>
            </a:extLst>
          </p:cNvPr>
          <p:cNvGraphicFramePr>
            <a:graphicFrameLocks noGrp="1"/>
          </p:cNvGraphicFramePr>
          <p:nvPr/>
        </p:nvGraphicFramePr>
        <p:xfrm>
          <a:off x="892256" y="2330548"/>
          <a:ext cx="10571229" cy="336615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951237">
                  <a:extLst>
                    <a:ext uri="{9D8B030D-6E8A-4147-A177-3AD203B41FA5}">
                      <a16:colId xmlns:a16="http://schemas.microsoft.com/office/drawing/2014/main" val="1424710486"/>
                    </a:ext>
                  </a:extLst>
                </a:gridCol>
                <a:gridCol w="3822094">
                  <a:extLst>
                    <a:ext uri="{9D8B030D-6E8A-4147-A177-3AD203B41FA5}">
                      <a16:colId xmlns:a16="http://schemas.microsoft.com/office/drawing/2014/main" val="1868613072"/>
                    </a:ext>
                  </a:extLst>
                </a:gridCol>
                <a:gridCol w="3797898">
                  <a:extLst>
                    <a:ext uri="{9D8B030D-6E8A-4147-A177-3AD203B41FA5}">
                      <a16:colId xmlns:a16="http://schemas.microsoft.com/office/drawing/2014/main" val="456714843"/>
                    </a:ext>
                  </a:extLst>
                </a:gridCol>
              </a:tblGrid>
              <a:tr h="56102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654784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885412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5299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399484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64810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9082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4FBC9C0-2DBD-611F-A59C-A77B7F9B6ACD}"/>
              </a:ext>
            </a:extLst>
          </p:cNvPr>
          <p:cNvSpPr txBox="1"/>
          <p:nvPr/>
        </p:nvSpPr>
        <p:spPr>
          <a:xfrm>
            <a:off x="853146" y="111280"/>
            <a:ext cx="80245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Univers Condensed"/>
              </a:rPr>
              <a:t>Balanced Random Forest Model and Results</a:t>
            </a:r>
          </a:p>
        </p:txBody>
      </p:sp>
      <p:pic>
        <p:nvPicPr>
          <p:cNvPr id="2" name="Picture 1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98FD8E97-85E1-FE07-19CF-7BE86053D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83" y="1180775"/>
            <a:ext cx="10416566" cy="451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204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4CB530-6C99-5D82-32CE-005765509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F97EC3-DD74-C80F-C498-CC724DBAC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9CE6BA-A502-FC41-1C34-89A551FE82D5}"/>
              </a:ext>
            </a:extLst>
          </p:cNvPr>
          <p:cNvSpPr txBox="1"/>
          <p:nvPr/>
        </p:nvSpPr>
        <p:spPr>
          <a:xfrm>
            <a:off x="853146" y="111280"/>
            <a:ext cx="80245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err="1">
                <a:latin typeface="Univers Condensed"/>
              </a:rPr>
              <a:t>XGBoost</a:t>
            </a:r>
            <a:r>
              <a:rPr lang="en-US" sz="2800">
                <a:latin typeface="Univers Condensed"/>
              </a:rPr>
              <a:t> Model and Results</a:t>
            </a:r>
          </a:p>
        </p:txBody>
      </p:sp>
      <p:pic>
        <p:nvPicPr>
          <p:cNvPr id="5" name="Picture 4" descr="A computer screen with white and orange text&#10;&#10;AI-generated content may be incorrect.">
            <a:extLst>
              <a:ext uri="{FF2B5EF4-FFF2-40B4-BE49-F238E27FC236}">
                <a16:creationId xmlns:a16="http://schemas.microsoft.com/office/drawing/2014/main" id="{4FA5814C-6530-617B-50DC-72FD6CF2A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08" y="1335588"/>
            <a:ext cx="10939136" cy="418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616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59211D5-EBD5-1417-4562-D59B89199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165649-BB0F-6761-71D6-0B6074091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5C1E15-7279-50CB-08A4-93F8D187C1C1}"/>
              </a:ext>
            </a:extLst>
          </p:cNvPr>
          <p:cNvSpPr txBox="1"/>
          <p:nvPr/>
        </p:nvSpPr>
        <p:spPr>
          <a:xfrm>
            <a:off x="853146" y="111280"/>
            <a:ext cx="80245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Univers Condensed"/>
              </a:rPr>
              <a:t>Visualizations- Accuracy and Bar plots</a:t>
            </a:r>
          </a:p>
        </p:txBody>
      </p:sp>
      <p:pic>
        <p:nvPicPr>
          <p:cNvPr id="2" name="Picture 1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D5C9D8E1-3CA8-1B01-B4EF-F323826E8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001" y="786400"/>
            <a:ext cx="8887999" cy="527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559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95D8703-E1CE-EEE6-20ED-B3B0C5B23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348767-9DFF-1B49-5B3B-02BF8E093B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7D3E4B-D4A8-C5FA-A9F4-FEE236A6C414}"/>
              </a:ext>
            </a:extLst>
          </p:cNvPr>
          <p:cNvSpPr txBox="1"/>
          <p:nvPr/>
        </p:nvSpPr>
        <p:spPr>
          <a:xfrm>
            <a:off x="853146" y="111280"/>
            <a:ext cx="80245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Univers Condensed"/>
              </a:rPr>
              <a:t>Visualizations- Confusion Matrices</a:t>
            </a:r>
          </a:p>
        </p:txBody>
      </p:sp>
      <p:pic>
        <p:nvPicPr>
          <p:cNvPr id="4" name="Picture 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E2036834-C2F2-3186-5DE8-05CA7892D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43" y="1116774"/>
            <a:ext cx="11135115" cy="463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507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F1F6AED-ACAF-19B6-74F4-7CB4D95A0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F74B77-B36F-BFA3-E437-094FA92ED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C62B31-33F5-1193-18ED-804275F2D5D3}"/>
              </a:ext>
            </a:extLst>
          </p:cNvPr>
          <p:cNvSpPr txBox="1"/>
          <p:nvPr/>
        </p:nvSpPr>
        <p:spPr>
          <a:xfrm>
            <a:off x="853146" y="111280"/>
            <a:ext cx="80245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Univers Condensed"/>
              </a:rPr>
              <a:t>Visualizations- ROC Curve Plot</a:t>
            </a: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A722ADB-5A89-5D8A-49B6-96FC82F10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816" y="912051"/>
            <a:ext cx="7787926" cy="50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259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B90A5A-52DA-585C-CF55-C904FA1D5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0E52DF2-6802-459B-AC2A-AF976DEB1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5F496-8AB2-882B-F6FD-C6A2D7678905}"/>
              </a:ext>
            </a:extLst>
          </p:cNvPr>
          <p:cNvSpPr txBox="1"/>
          <p:nvPr/>
        </p:nvSpPr>
        <p:spPr>
          <a:xfrm>
            <a:off x="8252705" y="893610"/>
            <a:ext cx="3469880" cy="12831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77500" lnSpcReduction="20000"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cap="all" spc="30">
                <a:latin typeface="+mj-lt"/>
                <a:ea typeface="+mj-ea"/>
                <a:cs typeface="+mj-cs"/>
              </a:rPr>
              <a:t>Visualizations- Precision and Recall Plot</a:t>
            </a:r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D157020-B747-B07D-E5C6-04B2E7005D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61" b="-1"/>
          <a:stretch/>
        </p:blipFill>
        <p:spPr>
          <a:xfrm>
            <a:off x="10458" y="10"/>
            <a:ext cx="7790433" cy="685798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153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BB9996-3C7A-AE68-5CE7-6AC19EB9C5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3DB2ADC-AF19-4574-8C10-79B5B04FCA2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37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83349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4626C-FB4F-CDBA-69C2-02319E7B8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DD0065-C827-19C5-AAE3-E952EC92D0AD}"/>
              </a:ext>
            </a:extLst>
          </p:cNvPr>
          <p:cNvSpPr txBox="1"/>
          <p:nvPr/>
        </p:nvSpPr>
        <p:spPr>
          <a:xfrm>
            <a:off x="8399165" y="1361440"/>
            <a:ext cx="3616554" cy="269464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cap="all" spc="30">
                <a:latin typeface="+mj-lt"/>
                <a:ea typeface="+mj-ea"/>
                <a:cs typeface="+mj-cs"/>
              </a:rPr>
              <a:t>Visualizations- AUC PLOT</a:t>
            </a:r>
          </a:p>
        </p:txBody>
      </p:sp>
      <p:pic>
        <p:nvPicPr>
          <p:cNvPr id="2" name="Picture 1" descr="A computer code on a black background&#10;&#10;AI-generated content may be incorrect.">
            <a:extLst>
              <a:ext uri="{FF2B5EF4-FFF2-40B4-BE49-F238E27FC236}">
                <a16:creationId xmlns:a16="http://schemas.microsoft.com/office/drawing/2014/main" id="{BA65E5D7-28D5-10C0-AC52-DE172AF0E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61" y="2634365"/>
            <a:ext cx="7478918" cy="1589269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7491F31-6557-2984-60B7-24907747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82959" y="662940"/>
            <a:ext cx="0" cy="55321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3796FE-7DB8-884E-C305-C6111049D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3DB2ADC-AF19-4574-8C10-79B5B04FCA2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38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583113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9FC59-D4CD-4858-F9C2-F4C862963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32" y="139219"/>
            <a:ext cx="10409430" cy="473332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>
                <a:latin typeface="Arial"/>
                <a:cs typeface="Arial"/>
              </a:rPr>
              <a:t>Exploratory Data Analysis (EDA)</a:t>
            </a:r>
          </a:p>
        </p:txBody>
      </p:sp>
      <p:pic>
        <p:nvPicPr>
          <p:cNvPr id="5" name="Content Placeholder 4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194FFD89-4C4A-7BE2-16C8-EC91550CA8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8132" y="1103944"/>
            <a:ext cx="8314818" cy="398245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35C3C-8EB3-65F9-AE1A-7055B10D9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B6B513-B496-FDAF-DB8D-EAAB94201853}"/>
              </a:ext>
            </a:extLst>
          </p:cNvPr>
          <p:cNvSpPr txBox="1"/>
          <p:nvPr/>
        </p:nvSpPr>
        <p:spPr>
          <a:xfrm>
            <a:off x="2808193" y="5262283"/>
            <a:ext cx="697902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>
                <a:latin typeface="Arial"/>
              </a:rPr>
              <a:t>Popularity Class (derived from popularity) has a very high correlation (0.82).</a:t>
            </a:r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0635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BD77D0E-F970-219A-EA49-153805F0E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12AD5-596D-1795-55A4-683BFF3AD1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1475" y="1710834"/>
            <a:ext cx="6118847" cy="6208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i="1" noProof="1">
                <a:latin typeface="Sabon Next LT"/>
                <a:ea typeface="+mn-lt"/>
                <a:cs typeface="Sabon Next LT"/>
              </a:rPr>
              <a:t>Accuracy &amp; F1 Score Comparison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18AC-F758-DB97-6863-1225AF9CB2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40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74A7C6C-5A6F-580B-EECE-23C67CD75D62}"/>
              </a:ext>
            </a:extLst>
          </p:cNvPr>
          <p:cNvGraphicFramePr>
            <a:graphicFrameLocks noGrp="1"/>
          </p:cNvGraphicFramePr>
          <p:nvPr/>
        </p:nvGraphicFramePr>
        <p:xfrm>
          <a:off x="892256" y="2330548"/>
          <a:ext cx="10571229" cy="336615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951237">
                  <a:extLst>
                    <a:ext uri="{9D8B030D-6E8A-4147-A177-3AD203B41FA5}">
                      <a16:colId xmlns:a16="http://schemas.microsoft.com/office/drawing/2014/main" val="1424710486"/>
                    </a:ext>
                  </a:extLst>
                </a:gridCol>
                <a:gridCol w="3822094">
                  <a:extLst>
                    <a:ext uri="{9D8B030D-6E8A-4147-A177-3AD203B41FA5}">
                      <a16:colId xmlns:a16="http://schemas.microsoft.com/office/drawing/2014/main" val="1868613072"/>
                    </a:ext>
                  </a:extLst>
                </a:gridCol>
                <a:gridCol w="3797898">
                  <a:extLst>
                    <a:ext uri="{9D8B030D-6E8A-4147-A177-3AD203B41FA5}">
                      <a16:colId xmlns:a16="http://schemas.microsoft.com/office/drawing/2014/main" val="456714843"/>
                    </a:ext>
                  </a:extLst>
                </a:gridCol>
              </a:tblGrid>
              <a:tr h="56102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BF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654784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885412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5299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399484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64810"/>
                  </a:ext>
                </a:extLst>
              </a:tr>
              <a:tr h="56102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E8DAD0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/>
                    </a:p>
                  </a:txBody>
                  <a:tcPr anchor="ctr">
                    <a:solidFill>
                      <a:srgbClr val="F8F4F1">
                        <a:alpha val="7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90828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E90E0FF-31A3-C77B-BD67-74AA05C1D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52" y="752145"/>
            <a:ext cx="11910165" cy="538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64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1AC55A-865B-7B8E-885A-9A74163B8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2ADA21-FC9A-6262-90F5-77738B5FE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/>
              <a:t>MODEL Comparison</a:t>
            </a:r>
            <a:br>
              <a:rPr lang="en-US" sz="2900"/>
            </a:br>
            <a:r>
              <a:rPr lang="en-US" sz="2900"/>
              <a:t>Models: XGBoost, Voting Classifier and Balanced Random Forest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C9C6708-E700-5627-E5F1-F3102BCA1F1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rcRect l="704" t="-110" b="-237"/>
          <a:stretch/>
        </p:blipFill>
        <p:spPr>
          <a:xfrm>
            <a:off x="545484" y="725902"/>
            <a:ext cx="7357435" cy="5354294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07AA20-96EC-5669-B468-05EB201E61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3DB2ADC-AF19-4574-8C10-79B5B04FCA2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41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85095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796C4E-41C8-0AB3-6886-FBB7C569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439" y="684311"/>
            <a:ext cx="7741728" cy="687702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Submission Details &amp; Dataset Link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1E39F92-B979-41AB-0918-CE4FADCA0D0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3370" y="1855529"/>
            <a:ext cx="5842565" cy="42757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/>
              <a:t>📁 OneDrive Folder:</a:t>
            </a:r>
            <a:r>
              <a:rPr lang="en-US" sz="1600">
                <a:ea typeface="+mn-lt"/>
                <a:cs typeface="+mn-lt"/>
              </a:rPr>
              <a:t> Click here to access submission folder</a:t>
            </a:r>
            <a:br>
              <a:rPr lang="en-US" sz="1600">
                <a:ea typeface="+mn-lt"/>
                <a:cs typeface="+mn-lt"/>
              </a:rPr>
            </a:br>
            <a:endParaRPr lang="en-US" sz="1600" i="1">
              <a:ea typeface="+mn-lt"/>
              <a:cs typeface="+mn-lt"/>
            </a:endParaRPr>
          </a:p>
          <a:p>
            <a:r>
              <a:rPr lang="en-US" sz="1600">
                <a:ea typeface="+mn-lt"/>
                <a:cs typeface="+mn-lt"/>
                <a:hlinkClick r:id="rId3"/>
              </a:rPr>
              <a:t>https://collegedouglas-my.sharepoint.com/my?id=%2Fpersonal%2Fsinghk106%5Fstudent%5Fdouglascollege%5Fca%2FDocuments%2FCSIS%203360%2D003%5FSpotify%5FProject&amp;ga=1</a:t>
            </a:r>
            <a:r>
              <a:rPr lang="en-US" sz="1600">
                <a:ea typeface="+mn-lt"/>
                <a:cs typeface="+mn-lt"/>
              </a:rPr>
              <a:t> </a:t>
            </a:r>
            <a:br>
              <a:rPr lang="en-US" sz="1600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 </a:t>
            </a:r>
            <a:endParaRPr lang="en-US" sz="1600" i="1"/>
          </a:p>
          <a:p>
            <a:br>
              <a:rPr lang="en-US" sz="1400"/>
            </a:br>
            <a:endParaRPr lang="en-US" sz="1600"/>
          </a:p>
          <a:p>
            <a:r>
              <a:rPr lang="en-US" sz="1600"/>
              <a:t>📊 Dataset Used:</a:t>
            </a:r>
          </a:p>
          <a:p>
            <a:r>
              <a:rPr lang="en-US" sz="1600" b="1">
                <a:ea typeface="+mn-lt"/>
                <a:cs typeface="+mn-lt"/>
              </a:rPr>
              <a:t>Spotify Dataset (Top Tracks 2023)</a:t>
            </a:r>
            <a:br>
              <a:rPr lang="en-US" sz="1600" b="1">
                <a:ea typeface="+mn-lt"/>
                <a:cs typeface="+mn-lt"/>
              </a:rPr>
            </a:br>
            <a:r>
              <a:rPr lang="en-US" sz="1600" b="1">
                <a:ea typeface="+mn-lt"/>
                <a:cs typeface="+mn-lt"/>
              </a:rPr>
              <a:t> Kaggle Link:</a:t>
            </a:r>
            <a:br>
              <a:rPr lang="en-US" sz="1600" b="1">
                <a:ea typeface="+mn-lt"/>
                <a:cs typeface="+mn-lt"/>
              </a:rPr>
            </a:br>
            <a:r>
              <a:rPr lang="en-US" sz="1600" b="1">
                <a:ea typeface="+mn-lt"/>
                <a:cs typeface="+mn-lt"/>
              </a:rPr>
              <a:t> </a:t>
            </a:r>
            <a:r>
              <a:rPr lang="en-US" sz="1600">
                <a:ea typeface="+mn-lt"/>
                <a:cs typeface="+mn-lt"/>
                <a:hlinkClick r:id="rId4"/>
              </a:rPr>
              <a:t>https://www.kaggle.com/datasets/iamsouravbanerjee/top-spotify-tracks-2023</a:t>
            </a:r>
            <a:endParaRPr lang="en-US" sz="1600"/>
          </a:p>
          <a:p>
            <a:endParaRPr lang="en-US" sz="1600"/>
          </a:p>
        </p:txBody>
      </p:sp>
      <p:pic>
        <p:nvPicPr>
          <p:cNvPr id="2" name="Graphic 1" descr="A cat">
            <a:extLst>
              <a:ext uri="{FF2B5EF4-FFF2-40B4-BE49-F238E27FC236}">
                <a16:creationId xmlns:a16="http://schemas.microsoft.com/office/drawing/2014/main" id="{DE8FD5D8-AA78-D28B-A183-7BBD0F5EF2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0999" y="3328146"/>
            <a:ext cx="3440207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96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DEC8C5-155D-4CD7-98CB-88A657420A1C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www.w3.org/2000/xmlns/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1657736A-C21D-40FD-9C3B-2A541E56B233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95FE3D2-AB53-4F3D-8791-B4AA764B47F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ChronicleVTI</Template>
  <TotalTime>0</TotalTime>
  <Words>2006</Words>
  <Application>Microsoft Office PowerPoint</Application>
  <PresentationFormat>Widescreen</PresentationFormat>
  <Paragraphs>303</Paragraphs>
  <Slides>42</Slides>
  <Notes>38</Notes>
  <HiddenSlides>16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Arial</vt:lpstr>
      <vt:lpstr>Arial,Sans-Serif</vt:lpstr>
      <vt:lpstr>Calibri</vt:lpstr>
      <vt:lpstr>Calisto MT</vt:lpstr>
      <vt:lpstr>Consolas</vt:lpstr>
      <vt:lpstr>Courier New</vt:lpstr>
      <vt:lpstr>Sabon Next LT</vt:lpstr>
      <vt:lpstr>Univers Condensed</vt:lpstr>
      <vt:lpstr>ChronicleVTI</vt:lpstr>
      <vt:lpstr>Overview of Project </vt:lpstr>
      <vt:lpstr>About Dataset</vt:lpstr>
      <vt:lpstr>Exploratory data analysis</vt:lpstr>
      <vt:lpstr>PowerPoint Presentation</vt:lpstr>
      <vt:lpstr>EDA for popularity </vt:lpstr>
      <vt:lpstr>EDa for  the most popular genres </vt:lpstr>
      <vt:lpstr>Data Preprocessing &amp; Data Models</vt:lpstr>
      <vt:lpstr> DATA PREPROCESSING Process AND CLEANING </vt:lpstr>
      <vt:lpstr>MODEL 1 XGBoost: Extreme Gradient Boosting Algorithm</vt:lpstr>
      <vt:lpstr>XGBoost Performance on Spotify Dataset</vt:lpstr>
      <vt:lpstr>XGBoost Confusion Matrix Breakdown</vt:lpstr>
      <vt:lpstr>MODEL 2 Voting Classifier </vt:lpstr>
      <vt:lpstr>Voting Classifier confusion matrix break down</vt:lpstr>
      <vt:lpstr>Voting classifier Performance on Spotify dataset</vt:lpstr>
      <vt:lpstr>MODEL 3 BALANCED RANDOM FOREST</vt:lpstr>
      <vt:lpstr>MODEL 3 BALANCED RANDOM FOREST</vt:lpstr>
      <vt:lpstr>BALANCED RF Confusion Matrix Breakdown</vt:lpstr>
      <vt:lpstr>BALANCED RF Performance on Spotify dataset</vt:lpstr>
      <vt:lpstr> Training Models - Comparative Studies</vt:lpstr>
      <vt:lpstr>MODEL Comparison Models: XGBoost, Voting Classifier and Balanced Random Forest</vt:lpstr>
      <vt:lpstr>PowerPoint Presentation</vt:lpstr>
      <vt:lpstr>CONFUSION matrix breakdown</vt:lpstr>
      <vt:lpstr> WHAT IS ROC &amp; AUC</vt:lpstr>
      <vt:lpstr>ROC-AUC COMPARISON </vt:lpstr>
      <vt:lpstr> Best Model and Conclusion</vt:lpstr>
      <vt:lpstr>Tools and Resources used</vt:lpstr>
      <vt:lpstr>APPENDIX- Bonus GRAPHS AND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Exploratory Data Analysis (EDA)</vt:lpstr>
      <vt:lpstr>PowerPoint Presentation</vt:lpstr>
      <vt:lpstr>MODEL Comparison Models: XGBoost, Voting Classifier and Balanced Random Forest</vt:lpstr>
      <vt:lpstr>Submission Details &amp; Dataset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Spotify Data  to Predict Song Popularity</dc:title>
  <dc:creator/>
  <cp:lastModifiedBy>Kimia Nik</cp:lastModifiedBy>
  <cp:revision>26</cp:revision>
  <dcterms:created xsi:type="dcterms:W3CDTF">2025-04-04T20:59:44Z</dcterms:created>
  <dcterms:modified xsi:type="dcterms:W3CDTF">2025-05-02T22:34:12Z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